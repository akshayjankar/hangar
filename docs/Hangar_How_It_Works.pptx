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complete guide to Hangar. As software developers, we spend hours opening terminal windows to run our databases, backend APIs, and web frontends. If you close the laptop or forget what is running, ports get locked and terminal windows multiply. Hangar solves this completely. It gives you a clean browser dashboard on your computer to supervise, start, stop, and view logs for all your projects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everything connects together. At the left, you open your web browser. The Next.js dashboard talks to the FastAPI Python backend on port 7777. The backend acts as the supervisor or general contractor: it launches and tracks your project processes (like Node or Python), checks their health, tails their log files, and records configuration in an SQLite database filing cabinet.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Hangar does not use passwords, it is protected with strict network guards. It only binds to 127.0.0.1, meaning nobody on your local Wi-Fi network can reach it. Furthermore, browser security filters check the Host header, Origin header, and a custom client header to ensure that no malicious website you visit can secretly tell Hangar to run or kill commands.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is cleanly divided into three areas. The backend folder contains Python code responsible for system processes, health checks, and database management. The frontend folder contains the Next.js React user interface with our drafting-table Blueprint design system. Finally, all persistent user data lives in the user's home directory under .hangar.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run 'python -m hangar', these six steps execute in order. Notice Step 3: if Hangar was closed previously while your project servers were still running, it is smart enough to re-adopt those running processes without needing to restart them. Then Step 5 serves the static web UI directly from FastAPI, so no Node runtime is needed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Hangar is open in your browser, several continuous background loops run silently. The health checker verifies ports every 5 seconds. The metrics engine samples CPU and memory every 2 seconds. The log tailer checks for new lines on disk every 200ms. All updates flow through one high-speed WebSocket connection directly to your screen.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Starting and stopping software correctly is hard. Hangar handles the edge cases. When starting, it verifies the port is free and pipes child output straight to a log file on disk. When stopping, it kills the ENTIRE process tree. On Windows, it uses 'taskkill /T /F' to ensure no runaway node.exe or python.exe processes stay behind. And for whole projects, it starts services by tier: database first, backend second, frontend third.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Components can be in one of six computed statuses. Importantly, status is never based on simple guessing: it verifies both the operating system process ID and the network health check. If a process is running but returning 500 errors, Hangar shows an amber 'unhealthy' lamp so you know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in Hangar are rock-solid because of how they are piped. Child processes do not write to an in-memory buffer that could overflow; they write straight to a file on your disk. The log tailer follows this file in real-time, streaming lines to your screen over WebSockets, while preserving past run history.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data is stored locally in an SQLite database located at ~/.hangar/hangar.db. We have six primary tables: applications (the projects), components (the individual services), runs (the execution history of every start and stop), events (notifications and crash logs), metrics_1m (CPU and RAM history), and settings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has six tabs along the left rail. Overview gives you the high-level pulse of your machine. Applications lets you control and configure your projects. Logs provides the terminal window. Ports detects conflicts. Activity keeps a history of events. And Settings lets you customize preferences.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documents the primary REST API endpoints exposed by the FastAPI backend on port 7777. Every endpoint requires the X-Hangar-Client header. Notice the DELETE /api/applications/{id} endpoint which was enhanced to handle process stopping and log cleanup.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function reference details the most critical functions in Hangar. The Supervisor class is the heart of process control, while the Orchestrator handles dependencies between services. On the frontend, HangarDashboard coordinates the user experience and handlers.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complete step-by-step journey of what happens behind the scenes when you click 'Start'. From the button click in your browser, through the FastAPI tier orchestrator, subprocess spawn, log file creation, and health check validation, right up to the green lamp lighting on your screen.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Part 3 of this work, we added the Remove Project feature. Users can now safely unregister any project from their dashboard. It includes a confirmation modal, optional automatic process termination, and log directory cleanup, while providing a 100% guarantee that your actual source code and project folders are never touched.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five common developer headaches that Hangar handles automatically. Port conflicts are detected before launch with one-click cleanup. Orphaned background processes are eliminated with process tree killing. Crash loops are halted by exponential backoff to protect system resources.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glossary defines all 12 key technical terms used throughout this presentation and the Hangar documentation. Every definition is written in simple, everyday language so that any beginner can easily understand how Hangar works.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1: INTRODUCTION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What Hangar Is &amp; The Problem It Solves</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365760"/>
          </a:xfrm>
          <a:prstGeom prst="rect">
            <a:avLst/>
          </a:prstGeom>
          <a:noFill/>
        </p:spPr>
        <p:txBody>
          <a:bodyPr wrap="none">
            <a:spAutoFit/>
          </a:bodyPr>
          <a:lstStyle/>
          <a:p>
            <a:pPr>
              <a:defRPr sz="1500" b="1">
                <a:solidFill>
                  <a:srgbClr val="63B8FF"/>
                </a:solidFill>
              </a:defRPr>
            </a:pPr>
            <a:r>
              <a:t>The Everyday Developer Problem</a:t>
            </a:r>
          </a:p>
        </p:txBody>
      </p:sp>
      <p:sp>
        <p:nvSpPr>
          <p:cNvPr id="8" name="TextBox 7"/>
          <p:cNvSpPr txBox="1"/>
          <p:nvPr/>
        </p:nvSpPr>
        <p:spPr>
          <a:xfrm>
            <a:off x="914400" y="2194560"/>
            <a:ext cx="4754880" cy="3840480"/>
          </a:xfrm>
          <a:prstGeom prst="rect">
            <a:avLst/>
          </a:prstGeom>
          <a:noFill/>
        </p:spPr>
        <p:txBody>
          <a:bodyPr wrap="square">
            <a:spAutoFit/>
          </a:bodyPr>
          <a:lstStyle/>
          <a:p>
            <a:pPr>
              <a:spcAft>
                <a:spcPts val="1000"/>
              </a:spcAft>
              <a:defRPr sz="1300">
                <a:solidFill>
                  <a:srgbClr val="E8F1F8"/>
                </a:solidFill>
              </a:defRPr>
            </a:pPr>
            <a:r>
              <a:t>•  Developers juggle 5 to 10 terminal tabs every day to run local projects.</a:t>
            </a:r>
          </a:p>
          <a:p>
            <a:pPr>
              <a:spcAft>
                <a:spcPts val="1000"/>
              </a:spcAft>
              <a:defRPr sz="1300">
                <a:solidFill>
                  <a:srgbClr val="E8F1F8"/>
                </a:solidFill>
              </a:defRPr>
            </a:pPr>
            <a:r>
              <a:t>•  A typical project requires three pieces: a database, an API backend, and a web frontend.</a:t>
            </a:r>
          </a:p>
          <a:p>
            <a:pPr>
              <a:spcAft>
                <a:spcPts val="1000"/>
              </a:spcAft>
              <a:defRPr sz="1300">
                <a:solidFill>
                  <a:srgbClr val="E8F1F8"/>
                </a:solidFill>
              </a:defRPr>
            </a:pPr>
            <a:r>
              <a:t>•  Starting them in the wrong order breaks things (e.g., backend crashes if DB isn't ready).</a:t>
            </a:r>
          </a:p>
          <a:p>
            <a:pPr>
              <a:spcAft>
                <a:spcPts val="1000"/>
              </a:spcAft>
              <a:defRPr sz="1300">
                <a:solidFill>
                  <a:srgbClr val="E8F1F8"/>
                </a:solidFill>
              </a:defRPr>
            </a:pPr>
            <a:r>
              <a:t>•  Terminals get left running in the background, locking ports like 3000 or 8000.</a:t>
            </a:r>
          </a:p>
          <a:p>
            <a:pPr>
              <a:spcAft>
                <a:spcPts val="1000"/>
              </a:spcAft>
              <a:defRPr sz="1300">
                <a:solidFill>
                  <a:srgbClr val="E8F1F8"/>
                </a:solidFill>
              </a:defRPr>
            </a:pPr>
            <a:r>
              <a:t>•  Logs are scattered across dozens of black command prompt windows.</a:t>
            </a:r>
          </a:p>
          <a:p>
            <a:pPr>
              <a:spcAft>
                <a:spcPts val="1000"/>
              </a:spcAft>
              <a:defRPr sz="1300">
                <a:solidFill>
                  <a:srgbClr val="E8F1F8"/>
                </a:solidFill>
              </a:defRPr>
            </a:pPr>
            <a:r>
              <a:t>•  When an app crashes, finding why requires hunting through buried terminal history.</a:t>
            </a:r>
          </a:p>
        </p:txBody>
      </p:sp>
      <p:sp>
        <p:nvSpPr>
          <p:cNvPr id="9" name="Rounded Rectangle 8"/>
          <p:cNvSpPr/>
          <p:nvPr/>
        </p:nvSpPr>
        <p:spPr>
          <a:xfrm>
            <a:off x="6309360" y="1645920"/>
            <a:ext cx="512064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365760"/>
          </a:xfrm>
          <a:prstGeom prst="rect">
            <a:avLst/>
          </a:prstGeom>
          <a:noFill/>
        </p:spPr>
        <p:txBody>
          <a:bodyPr wrap="none">
            <a:spAutoFit/>
          </a:bodyPr>
          <a:lstStyle/>
          <a:p>
            <a:pPr>
              <a:defRPr sz="1500" b="1">
                <a:solidFill>
                  <a:srgbClr val="63B8FF"/>
                </a:solidFill>
              </a:defRPr>
            </a:pPr>
            <a:r>
              <a:t>The Hangar Solution</a:t>
            </a:r>
          </a:p>
        </p:txBody>
      </p:sp>
      <p:sp>
        <p:nvSpPr>
          <p:cNvPr id="11" name="TextBox 10"/>
          <p:cNvSpPr txBox="1"/>
          <p:nvPr/>
        </p:nvSpPr>
        <p:spPr>
          <a:xfrm>
            <a:off x="6492240" y="2194560"/>
            <a:ext cx="4754880" cy="3840480"/>
          </a:xfrm>
          <a:prstGeom prst="rect">
            <a:avLst/>
          </a:prstGeom>
          <a:noFill/>
        </p:spPr>
        <p:txBody>
          <a:bodyPr wrap="square">
            <a:spAutoFit/>
          </a:bodyPr>
          <a:lstStyle/>
          <a:p>
            <a:pPr>
              <a:spcAft>
                <a:spcPts val="1000"/>
              </a:spcAft>
              <a:defRPr sz="1300">
                <a:solidFill>
                  <a:srgbClr val="E8F1F8"/>
                </a:solidFill>
              </a:defRPr>
            </a:pPr>
            <a:r>
              <a:t>•  Hangar is a single machine-room control panel for your own computer (localhost).</a:t>
            </a:r>
          </a:p>
          <a:p>
            <a:pPr>
              <a:spcAft>
                <a:spcPts val="1000"/>
              </a:spcAft>
              <a:defRPr sz="1300">
                <a:solidFill>
                  <a:srgbClr val="E8F1F8"/>
                </a:solidFill>
              </a:defRPr>
            </a:pPr>
            <a:r>
              <a:t>•  Think of it as an airport control tower for all your software projects.</a:t>
            </a:r>
          </a:p>
          <a:p>
            <a:pPr>
              <a:spcAft>
                <a:spcPts val="1000"/>
              </a:spcAft>
              <a:defRPr sz="1300">
                <a:solidFill>
                  <a:srgbClr val="E8F1F8"/>
                </a:solidFill>
              </a:defRPr>
            </a:pPr>
            <a:r>
              <a:t>•  One-click start, stop, and restart for every service or entire project suites.</a:t>
            </a:r>
          </a:p>
          <a:p>
            <a:pPr>
              <a:spcAft>
                <a:spcPts val="1000"/>
              </a:spcAft>
              <a:defRPr sz="1300">
                <a:solidFill>
                  <a:srgbClr val="E8F1F8"/>
                </a:solidFill>
              </a:defRPr>
            </a:pPr>
            <a:r>
              <a:t>•  Safe ordered boot: databases boot first (Tier 1), then backends (Tier 2), then frontends (Tier 3).</a:t>
            </a:r>
          </a:p>
          <a:p>
            <a:pPr>
              <a:spcAft>
                <a:spcPts val="1000"/>
              </a:spcAft>
              <a:defRPr sz="1300">
                <a:solidFill>
                  <a:srgbClr val="E8F1F8"/>
                </a:solidFill>
              </a:defRPr>
            </a:pPr>
            <a:r>
              <a:t>•  Live status lamps: green for healthy, pulsing blue for starting, red for crashed.</a:t>
            </a:r>
          </a:p>
          <a:p>
            <a:pPr>
              <a:spcAft>
                <a:spcPts val="1000"/>
              </a:spcAft>
              <a:defRPr sz="1300">
                <a:solidFill>
                  <a:srgbClr val="E8F1F8"/>
                </a:solidFill>
              </a:defRPr>
            </a:pPr>
            <a:r>
              <a:t>•  Merged real-time logs, resource gauges, and port conflict cleaning from one browser screen.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2: HIGH-LEVEL DESIGN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The Big Picture: End-to-End Architecture</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828800"/>
            <a:ext cx="2377440" cy="4114800"/>
          </a:xfrm>
          <a:prstGeom prst="roundRect">
            <a:avLst/>
          </a:prstGeom>
          <a:solidFill>
            <a:srgbClr val="0F2D49"/>
          </a:solidFill>
          <a:ln w="19050">
            <a:solidFill>
              <a:srgbClr val="34D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2011680" cy="365760"/>
          </a:xfrm>
          <a:prstGeom prst="rect">
            <a:avLst/>
          </a:prstGeom>
          <a:noFill/>
        </p:spPr>
        <p:txBody>
          <a:bodyPr wrap="none">
            <a:spAutoFit/>
          </a:bodyPr>
          <a:lstStyle/>
          <a:p>
            <a:pPr>
              <a:defRPr sz="1500" b="1">
                <a:solidFill>
                  <a:srgbClr val="63B8FF"/>
                </a:solidFill>
              </a:defRPr>
            </a:pPr>
            <a:r>
              <a:t>1. Browser Client</a:t>
            </a:r>
          </a:p>
        </p:txBody>
      </p:sp>
      <p:sp>
        <p:nvSpPr>
          <p:cNvPr id="8" name="TextBox 7"/>
          <p:cNvSpPr txBox="1"/>
          <p:nvPr/>
        </p:nvSpPr>
        <p:spPr>
          <a:xfrm>
            <a:off x="822960" y="2377440"/>
            <a:ext cx="2194560" cy="3291840"/>
          </a:xfrm>
          <a:prstGeom prst="rect">
            <a:avLst/>
          </a:prstGeom>
          <a:noFill/>
        </p:spPr>
        <p:txBody>
          <a:bodyPr wrap="square">
            <a:spAutoFit/>
          </a:bodyPr>
          <a:lstStyle/>
          <a:p>
            <a:pPr>
              <a:spcAft>
                <a:spcPts val="1000"/>
              </a:spcAft>
              <a:defRPr sz="1300">
                <a:solidFill>
                  <a:srgbClr val="E8F1F8"/>
                </a:solidFill>
              </a:defRPr>
            </a:pPr>
            <a:r>
              <a:t>•  User Interface</a:t>
            </a:r>
          </a:p>
          <a:p>
            <a:pPr>
              <a:spcAft>
                <a:spcPts val="1000"/>
              </a:spcAft>
              <a:defRPr sz="1300">
                <a:solidFill>
                  <a:srgbClr val="E8F1F8"/>
                </a:solidFill>
              </a:defRPr>
            </a:pPr>
            <a:r>
              <a:t>•  Next.js 14 + React</a:t>
            </a:r>
          </a:p>
          <a:p>
            <a:pPr>
              <a:spcAft>
                <a:spcPts val="1000"/>
              </a:spcAft>
              <a:defRPr sz="1300">
                <a:solidFill>
                  <a:srgbClr val="E8F1F8"/>
                </a:solidFill>
              </a:defRPr>
            </a:pPr>
            <a:r>
              <a:t>•  Single-page app</a:t>
            </a:r>
          </a:p>
          <a:p>
            <a:pPr>
              <a:spcAft>
                <a:spcPts val="1000"/>
              </a:spcAft>
              <a:defRPr sz="1300">
                <a:solidFill>
                  <a:srgbClr val="E8F1F8"/>
                </a:solidFill>
              </a:defRPr>
            </a:pPr>
            <a:r>
              <a:t>•  Runs on http://localhost:7777</a:t>
            </a:r>
          </a:p>
          <a:p>
            <a:pPr>
              <a:spcAft>
                <a:spcPts val="1000"/>
              </a:spcAft>
              <a:defRPr sz="1300">
                <a:solidFill>
                  <a:srgbClr val="E8F1F8"/>
                </a:solidFill>
              </a:defRPr>
            </a:pPr>
            <a:r>
              <a:t>•  REST API calls for actions</a:t>
            </a:r>
          </a:p>
          <a:p>
            <a:pPr>
              <a:spcAft>
                <a:spcPts val="1000"/>
              </a:spcAft>
              <a:defRPr sz="1300">
                <a:solidFill>
                  <a:srgbClr val="E8F1F8"/>
                </a:solidFill>
              </a:defRPr>
            </a:pPr>
            <a:r>
              <a:t>•  WebSocket connection for live logs &amp; metrics</a:t>
            </a:r>
          </a:p>
        </p:txBody>
      </p:sp>
      <p:sp>
        <p:nvSpPr>
          <p:cNvPr id="9" name="Rounded Rectangle 8"/>
          <p:cNvSpPr/>
          <p:nvPr/>
        </p:nvSpPr>
        <p:spPr>
          <a:xfrm>
            <a:off x="3474720" y="1828800"/>
            <a:ext cx="2468880" cy="4114800"/>
          </a:xfrm>
          <a:prstGeom prst="roundRect">
            <a:avLst/>
          </a:prstGeom>
          <a:solidFill>
            <a:srgbClr val="0F2D49"/>
          </a:solidFill>
          <a:ln w="19050">
            <a:solidFill>
              <a:srgbClr val="63B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0" y="1965960"/>
            <a:ext cx="2103120" cy="365760"/>
          </a:xfrm>
          <a:prstGeom prst="rect">
            <a:avLst/>
          </a:prstGeom>
          <a:noFill/>
        </p:spPr>
        <p:txBody>
          <a:bodyPr wrap="none">
            <a:spAutoFit/>
          </a:bodyPr>
          <a:lstStyle/>
          <a:p>
            <a:pPr>
              <a:defRPr sz="1500" b="1">
                <a:solidFill>
                  <a:srgbClr val="63B8FF"/>
                </a:solidFill>
              </a:defRPr>
            </a:pPr>
            <a:r>
              <a:t>2. FastAPI Backend</a:t>
            </a:r>
          </a:p>
        </p:txBody>
      </p:sp>
      <p:sp>
        <p:nvSpPr>
          <p:cNvPr id="11" name="TextBox 10"/>
          <p:cNvSpPr txBox="1"/>
          <p:nvPr/>
        </p:nvSpPr>
        <p:spPr>
          <a:xfrm>
            <a:off x="3566160" y="2377440"/>
            <a:ext cx="2286000" cy="3291840"/>
          </a:xfrm>
          <a:prstGeom prst="rect">
            <a:avLst/>
          </a:prstGeom>
          <a:noFill/>
        </p:spPr>
        <p:txBody>
          <a:bodyPr wrap="square">
            <a:spAutoFit/>
          </a:bodyPr>
          <a:lstStyle/>
          <a:p>
            <a:pPr>
              <a:spcAft>
                <a:spcPts val="1000"/>
              </a:spcAft>
              <a:defRPr sz="1300">
                <a:solidFill>
                  <a:srgbClr val="E8F1F8"/>
                </a:solidFill>
              </a:defRPr>
            </a:pPr>
            <a:r>
              <a:t>•  The Brain &amp; Manager</a:t>
            </a:r>
          </a:p>
          <a:p>
            <a:pPr>
              <a:spcAft>
                <a:spcPts val="1000"/>
              </a:spcAft>
              <a:defRPr sz="1300">
                <a:solidFill>
                  <a:srgbClr val="E8F1F8"/>
                </a:solidFill>
              </a:defRPr>
            </a:pPr>
            <a:r>
              <a:t>•  Python FastAPI on 127.0.0.1:7777</a:t>
            </a:r>
          </a:p>
          <a:p>
            <a:pPr>
              <a:spcAft>
                <a:spcPts val="1000"/>
              </a:spcAft>
              <a:defRPr sz="1300">
                <a:solidFill>
                  <a:srgbClr val="E8F1F8"/>
                </a:solidFill>
              </a:defRPr>
            </a:pPr>
            <a:r>
              <a:t>•  Process Supervisor</a:t>
            </a:r>
          </a:p>
          <a:p>
            <a:pPr>
              <a:spcAft>
                <a:spcPts val="1000"/>
              </a:spcAft>
              <a:defRPr sz="1300">
                <a:solidFill>
                  <a:srgbClr val="E8F1F8"/>
                </a:solidFill>
              </a:defRPr>
            </a:pPr>
            <a:r>
              <a:t>•  Tier Orchestrator</a:t>
            </a:r>
          </a:p>
          <a:p>
            <a:pPr>
              <a:spcAft>
                <a:spcPts val="1000"/>
              </a:spcAft>
              <a:defRPr sz="1300">
                <a:solidFill>
                  <a:srgbClr val="E8F1F8"/>
                </a:solidFill>
              </a:defRPr>
            </a:pPr>
            <a:r>
              <a:t>•  Health Monitor (every 5s)</a:t>
            </a:r>
          </a:p>
          <a:p>
            <a:pPr>
              <a:spcAft>
                <a:spcPts val="1000"/>
              </a:spcAft>
              <a:defRPr sz="1300">
                <a:solidFill>
                  <a:srgbClr val="E8F1F8"/>
                </a:solidFill>
              </a:defRPr>
            </a:pPr>
            <a:r>
              <a:t>•  Log Tailer (every 200ms)</a:t>
            </a:r>
          </a:p>
        </p:txBody>
      </p:sp>
      <p:sp>
        <p:nvSpPr>
          <p:cNvPr id="12" name="Rounded Rectangle 11"/>
          <p:cNvSpPr/>
          <p:nvPr/>
        </p:nvSpPr>
        <p:spPr>
          <a:xfrm>
            <a:off x="6309360" y="1828800"/>
            <a:ext cx="2377440" cy="4114800"/>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965960"/>
            <a:ext cx="2011680" cy="365760"/>
          </a:xfrm>
          <a:prstGeom prst="rect">
            <a:avLst/>
          </a:prstGeom>
          <a:noFill/>
        </p:spPr>
        <p:txBody>
          <a:bodyPr wrap="none">
            <a:spAutoFit/>
          </a:bodyPr>
          <a:lstStyle/>
          <a:p>
            <a:pPr>
              <a:defRPr sz="1500" b="1">
                <a:solidFill>
                  <a:srgbClr val="63B8FF"/>
                </a:solidFill>
              </a:defRPr>
            </a:pPr>
            <a:r>
              <a:t>3. SQLite Database</a:t>
            </a:r>
          </a:p>
        </p:txBody>
      </p:sp>
      <p:sp>
        <p:nvSpPr>
          <p:cNvPr id="14" name="TextBox 13"/>
          <p:cNvSpPr txBox="1"/>
          <p:nvPr/>
        </p:nvSpPr>
        <p:spPr>
          <a:xfrm>
            <a:off x="6400800" y="2377440"/>
            <a:ext cx="2194560" cy="3291840"/>
          </a:xfrm>
          <a:prstGeom prst="rect">
            <a:avLst/>
          </a:prstGeom>
          <a:noFill/>
        </p:spPr>
        <p:txBody>
          <a:bodyPr wrap="square">
            <a:spAutoFit/>
          </a:bodyPr>
          <a:lstStyle/>
          <a:p>
            <a:pPr>
              <a:spcAft>
                <a:spcPts val="1000"/>
              </a:spcAft>
              <a:defRPr sz="1300">
                <a:solidFill>
                  <a:srgbClr val="E8F1F8"/>
                </a:solidFill>
              </a:defRPr>
            </a:pPr>
            <a:r>
              <a:t>•  The Filing Cabinet</a:t>
            </a:r>
          </a:p>
          <a:p>
            <a:pPr>
              <a:spcAft>
                <a:spcPts val="1000"/>
              </a:spcAft>
              <a:defRPr sz="1300">
                <a:solidFill>
                  <a:srgbClr val="E8F1F8"/>
                </a:solidFill>
              </a:defRPr>
            </a:pPr>
            <a:r>
              <a:t>•  File: ~/.hangar/hangar.db</a:t>
            </a:r>
          </a:p>
          <a:p>
            <a:pPr>
              <a:spcAft>
                <a:spcPts val="1000"/>
              </a:spcAft>
              <a:defRPr sz="1300">
                <a:solidFill>
                  <a:srgbClr val="E8F1F8"/>
                </a:solidFill>
              </a:defRPr>
            </a:pPr>
            <a:r>
              <a:t>•  Stores registered projects</a:t>
            </a:r>
          </a:p>
          <a:p>
            <a:pPr>
              <a:spcAft>
                <a:spcPts val="1000"/>
              </a:spcAft>
              <a:defRPr sz="1300">
                <a:solidFill>
                  <a:srgbClr val="E8F1F8"/>
                </a:solidFill>
              </a:defRPr>
            </a:pPr>
            <a:r>
              <a:t>•  Stores components &amp; runs</a:t>
            </a:r>
          </a:p>
          <a:p>
            <a:pPr>
              <a:spcAft>
                <a:spcPts val="1000"/>
              </a:spcAft>
              <a:defRPr sz="1300">
                <a:solidFill>
                  <a:srgbClr val="E8F1F8"/>
                </a:solidFill>
              </a:defRPr>
            </a:pPr>
            <a:r>
              <a:t>•  Stores system events</a:t>
            </a:r>
          </a:p>
          <a:p>
            <a:pPr>
              <a:spcAft>
                <a:spcPts val="1000"/>
              </a:spcAft>
              <a:defRPr sz="1300">
                <a:solidFill>
                  <a:srgbClr val="E8F1F8"/>
                </a:solidFill>
              </a:defRPr>
            </a:pPr>
            <a:r>
              <a:t>•  1-minute metric summaries</a:t>
            </a:r>
          </a:p>
        </p:txBody>
      </p:sp>
      <p:sp>
        <p:nvSpPr>
          <p:cNvPr id="15" name="Rounded Rectangle 14"/>
          <p:cNvSpPr/>
          <p:nvPr/>
        </p:nvSpPr>
        <p:spPr>
          <a:xfrm>
            <a:off x="9052560" y="1828800"/>
            <a:ext cx="2377440" cy="4114800"/>
          </a:xfrm>
          <a:prstGeom prst="roundRect">
            <a:avLst/>
          </a:prstGeom>
          <a:solidFill>
            <a:srgbClr val="0F2D49"/>
          </a:solidFill>
          <a:ln w="19050">
            <a:solidFill>
              <a:srgbClr val="FF6B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965960"/>
            <a:ext cx="2011680" cy="365760"/>
          </a:xfrm>
          <a:prstGeom prst="rect">
            <a:avLst/>
          </a:prstGeom>
          <a:noFill/>
        </p:spPr>
        <p:txBody>
          <a:bodyPr wrap="none">
            <a:spAutoFit/>
          </a:bodyPr>
          <a:lstStyle/>
          <a:p>
            <a:pPr>
              <a:defRPr sz="1500" b="1">
                <a:solidFill>
                  <a:srgbClr val="63B8FF"/>
                </a:solidFill>
              </a:defRPr>
            </a:pPr>
            <a:r>
              <a:t>4. Project Processes</a:t>
            </a:r>
          </a:p>
        </p:txBody>
      </p:sp>
      <p:sp>
        <p:nvSpPr>
          <p:cNvPr id="17" name="TextBox 16"/>
          <p:cNvSpPr txBox="1"/>
          <p:nvPr/>
        </p:nvSpPr>
        <p:spPr>
          <a:xfrm>
            <a:off x="9144000" y="2377440"/>
            <a:ext cx="2194560" cy="3291840"/>
          </a:xfrm>
          <a:prstGeom prst="rect">
            <a:avLst/>
          </a:prstGeom>
          <a:noFill/>
        </p:spPr>
        <p:txBody>
          <a:bodyPr wrap="square">
            <a:spAutoFit/>
          </a:bodyPr>
          <a:lstStyle/>
          <a:p>
            <a:pPr>
              <a:spcAft>
                <a:spcPts val="1000"/>
              </a:spcAft>
              <a:defRPr sz="1300">
                <a:solidFill>
                  <a:srgbClr val="E8F1F8"/>
                </a:solidFill>
              </a:defRPr>
            </a:pPr>
            <a:r>
              <a:t>•  Your Running Code</a:t>
            </a:r>
          </a:p>
          <a:p>
            <a:pPr>
              <a:spcAft>
                <a:spcPts val="1000"/>
              </a:spcAft>
              <a:defRPr sz="1300">
                <a:solidFill>
                  <a:srgbClr val="E8F1F8"/>
                </a:solidFill>
              </a:defRPr>
            </a:pPr>
            <a:r>
              <a:t>•  Child process trees</a:t>
            </a:r>
          </a:p>
          <a:p>
            <a:pPr>
              <a:spcAft>
                <a:spcPts val="1000"/>
              </a:spcAft>
              <a:defRPr sz="1300">
                <a:solidFill>
                  <a:srgbClr val="E8F1F8"/>
                </a:solidFill>
              </a:defRPr>
            </a:pPr>
            <a:r>
              <a:t>•  Frontend (e.g. :3000)</a:t>
            </a:r>
          </a:p>
          <a:p>
            <a:pPr>
              <a:spcAft>
                <a:spcPts val="1000"/>
              </a:spcAft>
              <a:defRPr sz="1300">
                <a:solidFill>
                  <a:srgbClr val="E8F1F8"/>
                </a:solidFill>
              </a:defRPr>
            </a:pPr>
            <a:r>
              <a:t>•  Backend API (e.g. :8000)</a:t>
            </a:r>
          </a:p>
          <a:p>
            <a:pPr>
              <a:spcAft>
                <a:spcPts val="1000"/>
              </a:spcAft>
              <a:defRPr sz="1300">
                <a:solidFill>
                  <a:srgbClr val="E8F1F8"/>
                </a:solidFill>
              </a:defRPr>
            </a:pPr>
            <a:r>
              <a:t>•  Database (e.g. :5432)</a:t>
            </a:r>
          </a:p>
          <a:p>
            <a:pPr>
              <a:spcAft>
                <a:spcPts val="1000"/>
              </a:spcAft>
              <a:defRPr sz="1300">
                <a:solidFill>
                  <a:srgbClr val="E8F1F8"/>
                </a:solidFill>
              </a:defRPr>
            </a:pPr>
            <a:r>
              <a:t>•  Output piped directly to per-run log files on disk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3: NETWORKING &amp; SECURITY</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What 'Localhost' Means &amp; Networking Safety</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365760"/>
          </a:xfrm>
          <a:prstGeom prst="rect">
            <a:avLst/>
          </a:prstGeom>
          <a:noFill/>
        </p:spPr>
        <p:txBody>
          <a:bodyPr wrap="none">
            <a:spAutoFit/>
          </a:bodyPr>
          <a:lstStyle/>
          <a:p>
            <a:pPr>
              <a:defRPr sz="1500" b="1">
                <a:solidFill>
                  <a:srgbClr val="63B8FF"/>
                </a:solidFill>
              </a:defRPr>
            </a:pPr>
            <a:r>
              <a:t>Understanding Localhost &amp; Ports</a:t>
            </a:r>
          </a:p>
        </p:txBody>
      </p:sp>
      <p:sp>
        <p:nvSpPr>
          <p:cNvPr id="8" name="TextBox 7"/>
          <p:cNvSpPr txBox="1"/>
          <p:nvPr/>
        </p:nvSpPr>
        <p:spPr>
          <a:xfrm>
            <a:off x="914400" y="2194560"/>
            <a:ext cx="4754880" cy="3840480"/>
          </a:xfrm>
          <a:prstGeom prst="rect">
            <a:avLst/>
          </a:prstGeom>
          <a:noFill/>
        </p:spPr>
        <p:txBody>
          <a:bodyPr wrap="square">
            <a:spAutoFit/>
          </a:bodyPr>
          <a:lstStyle/>
          <a:p>
            <a:pPr>
              <a:spcAft>
                <a:spcPts val="1000"/>
              </a:spcAft>
              <a:defRPr sz="1300">
                <a:solidFill>
                  <a:srgbClr val="E8F1F8"/>
                </a:solidFill>
              </a:defRPr>
            </a:pPr>
            <a:r>
              <a:t>•  Localhost (127.0.0.1): An internal loopback address that means 'this computer right here'.</a:t>
            </a:r>
          </a:p>
          <a:p>
            <a:pPr>
              <a:spcAft>
                <a:spcPts val="1000"/>
              </a:spcAft>
              <a:defRPr sz="1300">
                <a:solidFill>
                  <a:srgbClr val="E8F1F8"/>
                </a:solidFill>
              </a:defRPr>
            </a:pPr>
            <a:r>
              <a:t>•  Data sent to localhost never travels over Wi-Fi, Ethernet, or the internet.</a:t>
            </a:r>
          </a:p>
          <a:p>
            <a:pPr>
              <a:spcAft>
                <a:spcPts val="1000"/>
              </a:spcAft>
              <a:defRPr sz="1300">
                <a:solidFill>
                  <a:srgbClr val="E8F1F8"/>
                </a:solidFill>
              </a:defRPr>
            </a:pPr>
            <a:r>
              <a:t>•  Port: An apartment number on your computer (e.g. 7777 for Hangar, 3000 for web app).</a:t>
            </a:r>
          </a:p>
          <a:p>
            <a:pPr>
              <a:spcAft>
                <a:spcPts val="1000"/>
              </a:spcAft>
              <a:defRPr sz="1300">
                <a:solidFill>
                  <a:srgbClr val="E8F1F8"/>
                </a:solidFill>
              </a:defRPr>
            </a:pPr>
            <a:r>
              <a:t>•  Analogy: 127.0.0.1 is the apartment building; port 7777 is apartment unit #7777.</a:t>
            </a:r>
          </a:p>
          <a:p>
            <a:pPr>
              <a:spcAft>
                <a:spcPts val="1000"/>
              </a:spcAft>
              <a:defRPr sz="1300">
                <a:solidFill>
                  <a:srgbClr val="E8F1F8"/>
                </a:solidFill>
              </a:defRPr>
            </a:pPr>
            <a:r>
              <a:t>•  When you visit http://localhost:7777, your browser talks directly to Hangar running on your machine.</a:t>
            </a:r>
          </a:p>
        </p:txBody>
      </p:sp>
      <p:sp>
        <p:nvSpPr>
          <p:cNvPr id="9" name="Rounded Rectangle 8"/>
          <p:cNvSpPr/>
          <p:nvPr/>
        </p:nvSpPr>
        <p:spPr>
          <a:xfrm>
            <a:off x="6309360" y="1645920"/>
            <a:ext cx="512064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365760"/>
          </a:xfrm>
          <a:prstGeom prst="rect">
            <a:avLst/>
          </a:prstGeom>
          <a:noFill/>
        </p:spPr>
        <p:txBody>
          <a:bodyPr wrap="none">
            <a:spAutoFit/>
          </a:bodyPr>
          <a:lstStyle/>
          <a:p>
            <a:pPr>
              <a:defRPr sz="1500" b="1">
                <a:solidFill>
                  <a:srgbClr val="63B8FF"/>
                </a:solidFill>
              </a:defRPr>
            </a:pPr>
            <a:r>
              <a:t>Zero-Trust Security Guards</a:t>
            </a:r>
          </a:p>
        </p:txBody>
      </p:sp>
      <p:sp>
        <p:nvSpPr>
          <p:cNvPr id="11" name="TextBox 10"/>
          <p:cNvSpPr txBox="1"/>
          <p:nvPr/>
        </p:nvSpPr>
        <p:spPr>
          <a:xfrm>
            <a:off x="6492240" y="2194560"/>
            <a:ext cx="4754880" cy="3840480"/>
          </a:xfrm>
          <a:prstGeom prst="rect">
            <a:avLst/>
          </a:prstGeom>
          <a:noFill/>
        </p:spPr>
        <p:txBody>
          <a:bodyPr wrap="square">
            <a:spAutoFit/>
          </a:bodyPr>
          <a:lstStyle/>
          <a:p>
            <a:pPr>
              <a:spcAft>
                <a:spcPts val="1000"/>
              </a:spcAft>
              <a:defRPr sz="1300">
                <a:solidFill>
                  <a:srgbClr val="E8F1F8"/>
                </a:solidFill>
              </a:defRPr>
            </a:pPr>
            <a:r>
              <a:t>•  Host Header Guard: Refuses any connection whose Host header isn't localhost or 127.0.0.1 (stops DNS rebinding attacks).</a:t>
            </a:r>
          </a:p>
          <a:p>
            <a:pPr>
              <a:spcAft>
                <a:spcPts val="1000"/>
              </a:spcAft>
              <a:defRPr sz="1300">
                <a:solidFill>
                  <a:srgbClr val="E8F1F8"/>
                </a:solidFill>
              </a:defRPr>
            </a:pPr>
            <a:r>
              <a:t>•  Origin &amp; CORS Guard: All mutating requests (POST, DELETE) must originate from Hangar's own origin.</a:t>
            </a:r>
          </a:p>
          <a:p>
            <a:pPr>
              <a:spcAft>
                <a:spcPts val="1000"/>
              </a:spcAft>
              <a:defRPr sz="1300">
                <a:solidFill>
                  <a:srgbClr val="E8F1F8"/>
                </a:solidFill>
              </a:defRPr>
            </a:pPr>
            <a:r>
              <a:t>•  X-Hangar-Client Header: All API calls require 'X-Hangar-Client: 1', preventing malicious external websites from triggering local commands.</a:t>
            </a:r>
          </a:p>
          <a:p>
            <a:pPr>
              <a:spcAft>
                <a:spcPts val="1000"/>
              </a:spcAft>
              <a:defRPr sz="1300">
                <a:solidFill>
                  <a:srgbClr val="E8F1F8"/>
                </a:solidFill>
              </a:defRPr>
            </a:pPr>
            <a:r>
              <a:t>•  Strict Local Binding: The backend binds exclusively to 127.0.0.1 and refuses external network interfaces.</a:t>
            </a:r>
          </a:p>
          <a:p>
            <a:pPr>
              <a:spcAft>
                <a:spcPts val="1000"/>
              </a:spcAft>
              <a:defRPr sz="1300">
                <a:solidFill>
                  <a:srgbClr val="E8F1F8"/>
                </a:solidFill>
              </a:defRPr>
            </a:pPr>
            <a:r>
              <a:t>•  No Remote Execution: Only commands explicitly typed and saved in components can be executed.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4: CODEBASE STRUCTURE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Folder &amp; File Map: What Every Part Does</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8328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3017520" cy="365760"/>
          </a:xfrm>
          <a:prstGeom prst="rect">
            <a:avLst/>
          </a:prstGeom>
          <a:noFill/>
        </p:spPr>
        <p:txBody>
          <a:bodyPr wrap="none">
            <a:spAutoFit/>
          </a:bodyPr>
          <a:lstStyle/>
          <a:p>
            <a:pPr>
              <a:defRPr sz="1500" b="1">
                <a:solidFill>
                  <a:srgbClr val="63B8FF"/>
                </a:solidFill>
              </a:defRPr>
            </a:pPr>
            <a:r>
              <a:t>backend/ (FastAPI)</a:t>
            </a:r>
          </a:p>
        </p:txBody>
      </p:sp>
      <p:sp>
        <p:nvSpPr>
          <p:cNvPr id="8" name="TextBox 7"/>
          <p:cNvSpPr txBox="1"/>
          <p:nvPr/>
        </p:nvSpPr>
        <p:spPr>
          <a:xfrm>
            <a:off x="822960" y="2194560"/>
            <a:ext cx="3200400" cy="3840480"/>
          </a:xfrm>
          <a:prstGeom prst="rect">
            <a:avLst/>
          </a:prstGeom>
          <a:noFill/>
        </p:spPr>
        <p:txBody>
          <a:bodyPr wrap="square">
            <a:spAutoFit/>
          </a:bodyPr>
          <a:lstStyle/>
          <a:p>
            <a:pPr>
              <a:spcAft>
                <a:spcPts val="1000"/>
              </a:spcAft>
              <a:defRPr sz="1300">
                <a:solidFill>
                  <a:srgbClr val="E8F1F8"/>
                </a:solidFill>
              </a:defRPr>
            </a:pPr>
            <a:r>
              <a:t>•  hangar/main.py: App factory &amp; lifespan</a:t>
            </a:r>
          </a:p>
          <a:p>
            <a:pPr>
              <a:spcAft>
                <a:spcPts val="1000"/>
              </a:spcAft>
              <a:defRPr sz="1300">
                <a:solidFill>
                  <a:srgbClr val="E8F1F8"/>
                </a:solidFill>
              </a:defRPr>
            </a:pPr>
            <a:r>
              <a:t>•  hangar/config.py: Ports, paths, defaults</a:t>
            </a:r>
          </a:p>
          <a:p>
            <a:pPr>
              <a:spcAft>
                <a:spcPts val="1000"/>
              </a:spcAft>
              <a:defRPr sz="1300">
                <a:solidFill>
                  <a:srgbClr val="E8F1F8"/>
                </a:solidFill>
              </a:defRPr>
            </a:pPr>
            <a:r>
              <a:t>•  hangar/db.py: SQLite DB engine &amp; sessions</a:t>
            </a:r>
          </a:p>
          <a:p>
            <a:pPr>
              <a:spcAft>
                <a:spcPts val="1000"/>
              </a:spcAft>
              <a:defRPr sz="1300">
                <a:solidFill>
                  <a:srgbClr val="E8F1F8"/>
                </a:solidFill>
              </a:defRPr>
            </a:pPr>
            <a:r>
              <a:t>•  hangar/models.py: Database schema tables</a:t>
            </a:r>
          </a:p>
          <a:p>
            <a:pPr>
              <a:spcAft>
                <a:spcPts val="1000"/>
              </a:spcAft>
              <a:defRPr sz="1300">
                <a:solidFill>
                  <a:srgbClr val="E8F1F8"/>
                </a:solidFill>
              </a:defRPr>
            </a:pPr>
            <a:r>
              <a:t>•  hangar/core/supervisor.py: Process engine</a:t>
            </a:r>
          </a:p>
          <a:p>
            <a:pPr>
              <a:spcAft>
                <a:spcPts val="1000"/>
              </a:spcAft>
              <a:defRPr sz="1300">
                <a:solidFill>
                  <a:srgbClr val="E8F1F8"/>
                </a:solidFill>
              </a:defRPr>
            </a:pPr>
            <a:r>
              <a:t>•  hangar/core/orchestrator.py: Ordered jobs</a:t>
            </a:r>
          </a:p>
          <a:p>
            <a:pPr>
              <a:spcAft>
                <a:spcPts val="1000"/>
              </a:spcAft>
              <a:defRPr sz="1300">
                <a:solidFill>
                  <a:srgbClr val="E8F1F8"/>
                </a:solidFill>
              </a:defRPr>
            </a:pPr>
            <a:r>
              <a:t>•  hangar/core/health.py: Health check probes</a:t>
            </a:r>
          </a:p>
          <a:p>
            <a:pPr>
              <a:spcAft>
                <a:spcPts val="1000"/>
              </a:spcAft>
              <a:defRPr sz="1300">
                <a:solidFill>
                  <a:srgbClr val="E8F1F8"/>
                </a:solidFill>
              </a:defRPr>
            </a:pPr>
            <a:r>
              <a:t>•  hangar/core/logtail.py: File tailer engine</a:t>
            </a:r>
          </a:p>
          <a:p>
            <a:pPr>
              <a:spcAft>
                <a:spcPts val="1000"/>
              </a:spcAft>
              <a:defRPr sz="1300">
                <a:solidFill>
                  <a:srgbClr val="E8F1F8"/>
                </a:solidFill>
              </a:defRPr>
            </a:pPr>
            <a:r>
              <a:t>•  hangar/api/: 12 REST &amp; WebSocket routes</a:t>
            </a:r>
          </a:p>
        </p:txBody>
      </p:sp>
      <p:sp>
        <p:nvSpPr>
          <p:cNvPr id="9" name="Rounded Rectangle 8"/>
          <p:cNvSpPr/>
          <p:nvPr/>
        </p:nvSpPr>
        <p:spPr>
          <a:xfrm>
            <a:off x="4389120" y="1645920"/>
            <a:ext cx="338328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83080"/>
            <a:ext cx="3017520" cy="365760"/>
          </a:xfrm>
          <a:prstGeom prst="rect">
            <a:avLst/>
          </a:prstGeom>
          <a:noFill/>
        </p:spPr>
        <p:txBody>
          <a:bodyPr wrap="none">
            <a:spAutoFit/>
          </a:bodyPr>
          <a:lstStyle/>
          <a:p>
            <a:pPr>
              <a:defRPr sz="1500" b="1">
                <a:solidFill>
                  <a:srgbClr val="63B8FF"/>
                </a:solidFill>
              </a:defRPr>
            </a:pPr>
            <a:r>
              <a:t>frontend/ (Next.js 14)</a:t>
            </a:r>
          </a:p>
        </p:txBody>
      </p:sp>
      <p:sp>
        <p:nvSpPr>
          <p:cNvPr id="11" name="TextBox 10"/>
          <p:cNvSpPr txBox="1"/>
          <p:nvPr/>
        </p:nvSpPr>
        <p:spPr>
          <a:xfrm>
            <a:off x="4480560" y="2194560"/>
            <a:ext cx="3200400" cy="3840480"/>
          </a:xfrm>
          <a:prstGeom prst="rect">
            <a:avLst/>
          </a:prstGeom>
          <a:noFill/>
        </p:spPr>
        <p:txBody>
          <a:bodyPr wrap="square">
            <a:spAutoFit/>
          </a:bodyPr>
          <a:lstStyle/>
          <a:p>
            <a:pPr>
              <a:spcAft>
                <a:spcPts val="1000"/>
              </a:spcAft>
              <a:defRPr sz="1300">
                <a:solidFill>
                  <a:srgbClr val="E8F1F8"/>
                </a:solidFill>
              </a:defRPr>
            </a:pPr>
            <a:r>
              <a:t>•  src/app/page.tsx: App entry point</a:t>
            </a:r>
          </a:p>
          <a:p>
            <a:pPr>
              <a:spcAft>
                <a:spcPts val="1000"/>
              </a:spcAft>
              <a:defRPr sz="1300">
                <a:solidFill>
                  <a:srgbClr val="E8F1F8"/>
                </a:solidFill>
              </a:defRPr>
            </a:pPr>
            <a:r>
              <a:t>•  components/dashboard/HangarDashboard.tsx: The main UI control room</a:t>
            </a:r>
          </a:p>
          <a:p>
            <a:pPr>
              <a:spcAft>
                <a:spcPts val="1000"/>
              </a:spcAft>
              <a:defRPr sz="1300">
                <a:solidFill>
                  <a:srgbClr val="E8F1F8"/>
                </a:solidFill>
              </a:defRPr>
            </a:pPr>
            <a:r>
              <a:t>•  components/ui/: Button, Dialog, PowerSwitch, Lamp, StatusPill</a:t>
            </a:r>
          </a:p>
          <a:p>
            <a:pPr>
              <a:spcAft>
                <a:spcPts val="1000"/>
              </a:spcAft>
              <a:defRPr sz="1300">
                <a:solidFill>
                  <a:srgbClr val="E8F1F8"/>
                </a:solidFill>
              </a:defRPr>
            </a:pPr>
            <a:r>
              <a:t>•  src/lib/api.ts: Typed REST client with security header injection</a:t>
            </a:r>
          </a:p>
          <a:p>
            <a:pPr>
              <a:spcAft>
                <a:spcPts val="1000"/>
              </a:spcAft>
              <a:defRPr sz="1300">
                <a:solidFill>
                  <a:srgbClr val="E8F1F8"/>
                </a:solidFill>
              </a:defRPr>
            </a:pPr>
            <a:r>
              <a:t>•  src/lib/ws.ts: WebSocket manager with auto-reconnection backoff</a:t>
            </a:r>
          </a:p>
          <a:p>
            <a:pPr>
              <a:spcAft>
                <a:spcPts val="1000"/>
              </a:spcAft>
              <a:defRPr sz="1300">
                <a:solidFill>
                  <a:srgbClr val="E8F1F8"/>
                </a:solidFill>
              </a:defRPr>
            </a:pPr>
            <a:r>
              <a:t>•  src/styles/globals.css: Blueprint drafting design tokens &amp; grid</a:t>
            </a:r>
          </a:p>
        </p:txBody>
      </p:sp>
      <p:sp>
        <p:nvSpPr>
          <p:cNvPr id="12" name="Rounded Rectangle 11"/>
          <p:cNvSpPr/>
          <p:nvPr/>
        </p:nvSpPr>
        <p:spPr>
          <a:xfrm>
            <a:off x="8046720" y="1645920"/>
            <a:ext cx="338328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83080"/>
            <a:ext cx="3017520" cy="365760"/>
          </a:xfrm>
          <a:prstGeom prst="rect">
            <a:avLst/>
          </a:prstGeom>
          <a:noFill/>
        </p:spPr>
        <p:txBody>
          <a:bodyPr wrap="none">
            <a:spAutoFit/>
          </a:bodyPr>
          <a:lstStyle/>
          <a:p>
            <a:pPr>
              <a:defRPr sz="1500" b="1">
                <a:solidFill>
                  <a:srgbClr val="63B8FF"/>
                </a:solidFill>
              </a:defRPr>
            </a:pPr>
            <a:r>
              <a:t>~/.hangar/ (Data Storage)</a:t>
            </a:r>
          </a:p>
        </p:txBody>
      </p:sp>
      <p:sp>
        <p:nvSpPr>
          <p:cNvPr id="14" name="TextBox 13"/>
          <p:cNvSpPr txBox="1"/>
          <p:nvPr/>
        </p:nvSpPr>
        <p:spPr>
          <a:xfrm>
            <a:off x="8138160" y="2194560"/>
            <a:ext cx="3200400" cy="3840480"/>
          </a:xfrm>
          <a:prstGeom prst="rect">
            <a:avLst/>
          </a:prstGeom>
          <a:noFill/>
        </p:spPr>
        <p:txBody>
          <a:bodyPr wrap="square">
            <a:spAutoFit/>
          </a:bodyPr>
          <a:lstStyle/>
          <a:p>
            <a:pPr>
              <a:spcAft>
                <a:spcPts val="1000"/>
              </a:spcAft>
              <a:defRPr sz="1300">
                <a:solidFill>
                  <a:srgbClr val="E8F1F8"/>
                </a:solidFill>
              </a:defRPr>
            </a:pPr>
            <a:r>
              <a:t>•  hangar.db: SQLite database storing projects, components, runs, and settings.</a:t>
            </a:r>
          </a:p>
          <a:p>
            <a:pPr>
              <a:spcAft>
                <a:spcPts val="1000"/>
              </a:spcAft>
              <a:defRPr sz="1300">
                <a:solidFill>
                  <a:srgbClr val="E8F1F8"/>
                </a:solidFill>
              </a:defRPr>
            </a:pPr>
            <a:r>
              <a:t>•  logs/&lt;comp_id&gt;/run-&lt;id&gt;.log: Raw text log files written straight from child stdout/stderr.</a:t>
            </a:r>
          </a:p>
          <a:p>
            <a:pPr>
              <a:spcAft>
                <a:spcPts val="1000"/>
              </a:spcAft>
              <a:defRPr sz="1300">
                <a:solidFill>
                  <a:srgbClr val="E8F1F8"/>
                </a:solidFill>
              </a:defRPr>
            </a:pPr>
            <a:r>
              <a:t>•  Persists across reboots and dashboard restarts.</a:t>
            </a:r>
          </a:p>
          <a:p>
            <a:pPr>
              <a:spcAft>
                <a:spcPts val="1000"/>
              </a:spcAft>
              <a:defRPr sz="1300">
                <a:solidFill>
                  <a:srgbClr val="E8F1F8"/>
                </a:solidFill>
              </a:defRPr>
            </a:pPr>
            <a:r>
              <a:t>•  docs/: Architecture, design, and user documentation.</a:t>
            </a:r>
          </a:p>
          <a:p>
            <a:pPr>
              <a:spcAft>
                <a:spcPts val="1000"/>
              </a:spcAft>
              <a:defRPr sz="1300">
                <a:solidFill>
                  <a:srgbClr val="E8F1F8"/>
                </a:solidFill>
              </a:defRPr>
            </a:pPr>
            <a:r>
              <a:t>•  scripts/: PowerShell and Bash launch scripts for dev and prod.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5: LIFECYCLE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Step-by-Step Flow: What Happens at Startup</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6858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10332720" cy="548640"/>
          </a:xfrm>
          <a:prstGeom prst="rect">
            <a:avLst/>
          </a:prstGeom>
          <a:noFill/>
        </p:spPr>
        <p:txBody>
          <a:bodyPr wrap="square">
            <a:spAutoFit/>
          </a:bodyPr>
          <a:lstStyle/>
          <a:p>
            <a:pPr>
              <a:defRPr b="1" sz="1300">
                <a:solidFill>
                  <a:srgbClr val="E8F1F8"/>
                </a:solidFill>
              </a:defRPr>
            </a:pPr>
            <a:r>
              <a:t>Step 1: Storage &amp; Directories:  </a:t>
            </a:r>
            <a:r>
              <a:rPr b="0" sz="1200">
                <a:solidFill>
                  <a:srgbClr val="8DAFC8"/>
                </a:solidFill>
              </a:rPr>
              <a:t>Config checks ~/.hangar; creates logs/ directory and hangar.db SQLite database if they don't exist yet.</a:t>
            </a:r>
          </a:p>
        </p:txBody>
      </p:sp>
      <p:sp>
        <p:nvSpPr>
          <p:cNvPr id="8" name="Rounded Rectangle 7"/>
          <p:cNvSpPr/>
          <p:nvPr/>
        </p:nvSpPr>
        <p:spPr>
          <a:xfrm>
            <a:off x="731520" y="2423160"/>
            <a:ext cx="10728655" cy="6858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96312"/>
            <a:ext cx="10332720" cy="548640"/>
          </a:xfrm>
          <a:prstGeom prst="rect">
            <a:avLst/>
          </a:prstGeom>
          <a:noFill/>
        </p:spPr>
        <p:txBody>
          <a:bodyPr wrap="square">
            <a:spAutoFit/>
          </a:bodyPr>
          <a:lstStyle/>
          <a:p>
            <a:pPr>
              <a:defRPr b="1" sz="1300">
                <a:solidFill>
                  <a:srgbClr val="E8F1F8"/>
                </a:solidFill>
              </a:defRPr>
            </a:pPr>
            <a:r>
              <a:t>Step 2: Database Table Setup:  </a:t>
            </a:r>
            <a:r>
              <a:rPr b="0" sz="1200">
                <a:solidFill>
                  <a:srgbClr val="8DAFC8"/>
                </a:solidFill>
              </a:rPr>
              <a:t>SQLAlchemy connects via aiosqlite, creates schema_version, applications, components, runs, events, and metrics tables.</a:t>
            </a:r>
          </a:p>
        </p:txBody>
      </p:sp>
      <p:sp>
        <p:nvSpPr>
          <p:cNvPr id="10" name="Rounded Rectangle 9"/>
          <p:cNvSpPr/>
          <p:nvPr/>
        </p:nvSpPr>
        <p:spPr>
          <a:xfrm>
            <a:off x="731520" y="3200400"/>
            <a:ext cx="10728655" cy="6858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548640"/>
          </a:xfrm>
          <a:prstGeom prst="rect">
            <a:avLst/>
          </a:prstGeom>
          <a:noFill/>
        </p:spPr>
        <p:txBody>
          <a:bodyPr wrap="square">
            <a:spAutoFit/>
          </a:bodyPr>
          <a:lstStyle/>
          <a:p>
            <a:pPr>
              <a:defRPr b="1" sz="1300">
                <a:solidFill>
                  <a:srgbClr val="E8F1F8"/>
                </a:solidFill>
              </a:defRPr>
            </a:pPr>
            <a:r>
              <a:t>Step 3: Process Re-adoption:  </a:t>
            </a:r>
            <a:r>
              <a:rPr b="0" sz="1200">
                <a:solidFill>
                  <a:srgbClr val="8DAFC8"/>
                </a:solidFill>
              </a:rPr>
              <a:t>Supervisor scans the database for active runs; checks if PIDs are still alive with matching start times. If so, adopts them!</a:t>
            </a:r>
          </a:p>
        </p:txBody>
      </p:sp>
      <p:sp>
        <p:nvSpPr>
          <p:cNvPr id="12" name="Rounded Rectangle 11"/>
          <p:cNvSpPr/>
          <p:nvPr/>
        </p:nvSpPr>
        <p:spPr>
          <a:xfrm>
            <a:off x="731520" y="3977639"/>
            <a:ext cx="10728655" cy="6858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50791"/>
            <a:ext cx="10332720" cy="548640"/>
          </a:xfrm>
          <a:prstGeom prst="rect">
            <a:avLst/>
          </a:prstGeom>
          <a:noFill/>
        </p:spPr>
        <p:txBody>
          <a:bodyPr wrap="square">
            <a:spAutoFit/>
          </a:bodyPr>
          <a:lstStyle/>
          <a:p>
            <a:pPr>
              <a:defRPr b="1" sz="1300">
                <a:solidFill>
                  <a:srgbClr val="E8F1F8"/>
                </a:solidFill>
              </a:defRPr>
            </a:pPr>
            <a:r>
              <a:t>Step 4: Launch Background Tasks:  </a:t>
            </a:r>
            <a:r>
              <a:rPr b="0" sz="1200">
                <a:solidFill>
                  <a:srgbClr val="8DAFC8"/>
                </a:solidFill>
              </a:rPr>
              <a:t>Supervisor starts health checker (every 5s) and metrics sampler (every 2s). Log tailers attach to active run log files.</a:t>
            </a:r>
          </a:p>
        </p:txBody>
      </p:sp>
      <p:sp>
        <p:nvSpPr>
          <p:cNvPr id="14" name="Rounded Rectangle 13"/>
          <p:cNvSpPr/>
          <p:nvPr/>
        </p:nvSpPr>
        <p:spPr>
          <a:xfrm>
            <a:off x="731520" y="4754880"/>
            <a:ext cx="10728655" cy="6858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828032"/>
            <a:ext cx="10332720" cy="548640"/>
          </a:xfrm>
          <a:prstGeom prst="rect">
            <a:avLst/>
          </a:prstGeom>
          <a:noFill/>
        </p:spPr>
        <p:txBody>
          <a:bodyPr wrap="square">
            <a:spAutoFit/>
          </a:bodyPr>
          <a:lstStyle/>
          <a:p>
            <a:pPr>
              <a:defRPr b="1" sz="1300">
                <a:solidFill>
                  <a:srgbClr val="E8F1F8"/>
                </a:solidFill>
              </a:defRPr>
            </a:pPr>
            <a:r>
              <a:t>Step 5: Next.js Static Export Serving:  </a:t>
            </a:r>
            <a:r>
              <a:rPr b="0" sz="1200">
                <a:solidFill>
                  <a:srgbClr val="8DAFC8"/>
                </a:solidFill>
              </a:rPr>
              <a:t>FastAPI mounts frontend/out/ at the root URL (/) and serves REST API at /api and WebSocket bus at /ws.</a:t>
            </a:r>
          </a:p>
        </p:txBody>
      </p:sp>
      <p:sp>
        <p:nvSpPr>
          <p:cNvPr id="16" name="Rounded Rectangle 15"/>
          <p:cNvSpPr/>
          <p:nvPr/>
        </p:nvSpPr>
        <p:spPr>
          <a:xfrm>
            <a:off x="731520" y="5532120"/>
            <a:ext cx="10728655" cy="685800"/>
          </a:xfrm>
          <a:prstGeom prst="roundRect">
            <a:avLst/>
          </a:prstGeom>
          <a:solidFill>
            <a:srgbClr val="0F2D49"/>
          </a:solidFill>
          <a:ln w="19050">
            <a:solidFill>
              <a:srgbClr val="34D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05272"/>
            <a:ext cx="10332720" cy="548640"/>
          </a:xfrm>
          <a:prstGeom prst="rect">
            <a:avLst/>
          </a:prstGeom>
          <a:noFill/>
        </p:spPr>
        <p:txBody>
          <a:bodyPr wrap="square">
            <a:spAutoFit/>
          </a:bodyPr>
          <a:lstStyle/>
          <a:p>
            <a:pPr>
              <a:defRPr b="1" sz="1300">
                <a:solidFill>
                  <a:srgbClr val="63B8FF"/>
                </a:solidFill>
              </a:defRPr>
            </a:pPr>
            <a:r>
              <a:t>Step 6: Browser Connection:  </a:t>
            </a:r>
            <a:r>
              <a:rPr b="0" sz="1200">
                <a:solidFill>
                  <a:srgbClr val="8DAFC8"/>
                </a:solidFill>
              </a:rPr>
              <a:t>User opens http://localhost:7777; browser downloads the UI, requests /api/overview, and opens the live WebSocket connection.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6: BACKGROUND MONITORING</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What Happens in the Background While Open</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365760"/>
          </a:xfrm>
          <a:prstGeom prst="rect">
            <a:avLst/>
          </a:prstGeom>
          <a:noFill/>
        </p:spPr>
        <p:txBody>
          <a:bodyPr wrap="none">
            <a:spAutoFit/>
          </a:bodyPr>
          <a:lstStyle/>
          <a:p>
            <a:pPr>
              <a:defRPr sz="1500" b="1">
                <a:solidFill>
                  <a:srgbClr val="63B8FF"/>
                </a:solidFill>
              </a:defRPr>
            </a:pPr>
            <a:r>
              <a:t>Background Engines &amp; Intervals</a:t>
            </a:r>
          </a:p>
        </p:txBody>
      </p:sp>
      <p:sp>
        <p:nvSpPr>
          <p:cNvPr id="8" name="TextBox 7"/>
          <p:cNvSpPr txBox="1"/>
          <p:nvPr/>
        </p:nvSpPr>
        <p:spPr>
          <a:xfrm>
            <a:off x="914400" y="2194560"/>
            <a:ext cx="4754880" cy="3840480"/>
          </a:xfrm>
          <a:prstGeom prst="rect">
            <a:avLst/>
          </a:prstGeom>
          <a:noFill/>
        </p:spPr>
        <p:txBody>
          <a:bodyPr wrap="square">
            <a:spAutoFit/>
          </a:bodyPr>
          <a:lstStyle/>
          <a:p>
            <a:pPr>
              <a:spcAft>
                <a:spcPts val="1000"/>
              </a:spcAft>
              <a:defRPr sz="1300">
                <a:solidFill>
                  <a:srgbClr val="E8F1F8"/>
                </a:solidFill>
              </a:defRPr>
            </a:pPr>
            <a:r>
              <a:t>•  Health Checker (Every 5 seconds): Probes each running component (TCP socket connect, HTTP GET 200, process check, or SQLite file).</a:t>
            </a:r>
          </a:p>
          <a:p>
            <a:pPr>
              <a:spcAft>
                <a:spcPts val="1000"/>
              </a:spcAft>
              <a:defRPr sz="1300">
                <a:solidFill>
                  <a:srgbClr val="E8F1F8"/>
                </a:solidFill>
              </a:defRPr>
            </a:pPr>
            <a:r>
              <a:t>•  Metrics Sampler (Every 2 seconds): Samples CPU %, RSS memory in MB, and thread counts using psutil across entire process trees.</a:t>
            </a:r>
          </a:p>
          <a:p>
            <a:pPr>
              <a:spcAft>
                <a:spcPts val="1000"/>
              </a:spcAft>
              <a:defRPr sz="1300">
                <a:solidFill>
                  <a:srgbClr val="E8F1F8"/>
                </a:solidFill>
              </a:defRPr>
            </a:pPr>
            <a:r>
              <a:t>•  Metric Averager (Every 1 minute): Computes 1-minute averages and commits them to the metrics_1m table for 7-day trend graphs.</a:t>
            </a:r>
          </a:p>
          <a:p>
            <a:pPr>
              <a:spcAft>
                <a:spcPts val="1000"/>
              </a:spcAft>
              <a:defRPr sz="1300">
                <a:solidFill>
                  <a:srgbClr val="E8F1F8"/>
                </a:solidFill>
              </a:defRPr>
            </a:pPr>
            <a:r>
              <a:t>•  Log Tailer (Every 200 milliseconds): Follows each active log file on disk and broadcasts newly appended lines over the WebSocket bus.</a:t>
            </a:r>
          </a:p>
          <a:p>
            <a:pPr>
              <a:spcAft>
                <a:spcPts val="1000"/>
              </a:spcAft>
              <a:defRPr sz="1300">
                <a:solidFill>
                  <a:srgbClr val="E8F1F8"/>
                </a:solidFill>
              </a:defRPr>
            </a:pPr>
            <a:r>
              <a:t>•  Event Engine (Event-driven): Emits warnings for high CPU (&gt;90%), high memory (&gt;80%), or unexpected process exits.</a:t>
            </a:r>
          </a:p>
        </p:txBody>
      </p:sp>
      <p:sp>
        <p:nvSpPr>
          <p:cNvPr id="9" name="Rounded Rectangle 8"/>
          <p:cNvSpPr/>
          <p:nvPr/>
        </p:nvSpPr>
        <p:spPr>
          <a:xfrm>
            <a:off x="6309360" y="1645920"/>
            <a:ext cx="512064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365760"/>
          </a:xfrm>
          <a:prstGeom prst="rect">
            <a:avLst/>
          </a:prstGeom>
          <a:noFill/>
        </p:spPr>
        <p:txBody>
          <a:bodyPr wrap="none">
            <a:spAutoFit/>
          </a:bodyPr>
          <a:lstStyle/>
          <a:p>
            <a:pPr>
              <a:defRPr sz="1500" b="1">
                <a:solidFill>
                  <a:srgbClr val="63B8FF"/>
                </a:solidFill>
              </a:defRPr>
            </a:pPr>
            <a:r>
              <a:t>Live WebSocket Bus (/ws)</a:t>
            </a:r>
          </a:p>
        </p:txBody>
      </p:sp>
      <p:sp>
        <p:nvSpPr>
          <p:cNvPr id="11" name="TextBox 10"/>
          <p:cNvSpPr txBox="1"/>
          <p:nvPr/>
        </p:nvSpPr>
        <p:spPr>
          <a:xfrm>
            <a:off x="6492240" y="2194560"/>
            <a:ext cx="4754880" cy="3840480"/>
          </a:xfrm>
          <a:prstGeom prst="rect">
            <a:avLst/>
          </a:prstGeom>
          <a:noFill/>
        </p:spPr>
        <p:txBody>
          <a:bodyPr wrap="square">
            <a:spAutoFit/>
          </a:bodyPr>
          <a:lstStyle/>
          <a:p>
            <a:pPr>
              <a:spcAft>
                <a:spcPts val="1000"/>
              </a:spcAft>
              <a:defRPr sz="1300">
                <a:solidFill>
                  <a:srgbClr val="E8F1F8"/>
                </a:solidFill>
              </a:defRPr>
            </a:pPr>
            <a:r>
              <a:t>•  Single Persistent Channel: The browser maintains one WebSocket connection to ws://127.0.0.1:7777/ws.</a:t>
            </a:r>
          </a:p>
          <a:p>
            <a:pPr>
              <a:spcAft>
                <a:spcPts val="1000"/>
              </a:spcAft>
              <a:defRPr sz="1300">
                <a:solidFill>
                  <a:srgbClr val="E8F1F8"/>
                </a:solidFill>
              </a:defRPr>
            </a:pPr>
            <a:r>
              <a:t>•  Client Subscriptions: The UI sends {'sub': 'status'}, {'sub': 'events'}, or {'sub': 'logs:&lt;comp_id&gt;'}.</a:t>
            </a:r>
          </a:p>
          <a:p>
            <a:pPr>
              <a:spcAft>
                <a:spcPts val="1000"/>
              </a:spcAft>
              <a:defRPr sz="1300">
                <a:solidFill>
                  <a:srgbClr val="E8F1F8"/>
                </a:solidFill>
              </a:defRPr>
            </a:pPr>
            <a:r>
              <a:t>•  Push Updates: The server pushes status changes immediately, turning UI lamps from yellow to green without page reloads.</a:t>
            </a:r>
          </a:p>
          <a:p>
            <a:pPr>
              <a:spcAft>
                <a:spcPts val="1000"/>
              </a:spcAft>
              <a:defRPr sz="1300">
                <a:solidFill>
                  <a:srgbClr val="E8F1F8"/>
                </a:solidFill>
              </a:defRPr>
            </a:pPr>
            <a:r>
              <a:t>•  Batched Log Output: Logs are batched (max 50 lines per 100ms) to ensure butter-smooth rendering without UI lag.</a:t>
            </a:r>
          </a:p>
          <a:p>
            <a:pPr>
              <a:spcAft>
                <a:spcPts val="1000"/>
              </a:spcAft>
              <a:defRPr sz="1300">
                <a:solidFill>
                  <a:srgbClr val="E8F1F8"/>
                </a:solidFill>
              </a:defRPr>
            </a:pPr>
            <a:r>
              <a:t>•  Auto-reconnect &amp; Fallback: If disconnected, exponential backoff reconnects automatically; 5-second REST polling serves as fallback.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7: PROCESS ENGINE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How the Backend Starts, Stops &amp; Restarts Projects</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83280" cy="4572000"/>
          </a:xfrm>
          <a:prstGeom prst="roundRect">
            <a:avLst/>
          </a:prstGeom>
          <a:solidFill>
            <a:srgbClr val="0F2D49"/>
          </a:solidFill>
          <a:ln w="19050">
            <a:solidFill>
              <a:srgbClr val="34D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3017520" cy="365760"/>
          </a:xfrm>
          <a:prstGeom prst="rect">
            <a:avLst/>
          </a:prstGeom>
          <a:noFill/>
        </p:spPr>
        <p:txBody>
          <a:bodyPr wrap="none">
            <a:spAutoFit/>
          </a:bodyPr>
          <a:lstStyle/>
          <a:p>
            <a:pPr>
              <a:defRPr sz="1500" b="1">
                <a:solidFill>
                  <a:srgbClr val="63B8FF"/>
                </a:solidFill>
              </a:defRPr>
            </a:pPr>
            <a:r>
              <a:t>START FLOW</a:t>
            </a:r>
          </a:p>
        </p:txBody>
      </p:sp>
      <p:sp>
        <p:nvSpPr>
          <p:cNvPr id="8" name="TextBox 7"/>
          <p:cNvSpPr txBox="1"/>
          <p:nvPr/>
        </p:nvSpPr>
        <p:spPr>
          <a:xfrm>
            <a:off x="822960" y="2194560"/>
            <a:ext cx="3200400" cy="3840480"/>
          </a:xfrm>
          <a:prstGeom prst="rect">
            <a:avLst/>
          </a:prstGeom>
          <a:noFill/>
        </p:spPr>
        <p:txBody>
          <a:bodyPr wrap="square">
            <a:spAutoFit/>
          </a:bodyPr>
          <a:lstStyle/>
          <a:p>
            <a:pPr>
              <a:spcAft>
                <a:spcPts val="1000"/>
              </a:spcAft>
              <a:defRPr sz="1300">
                <a:solidFill>
                  <a:srgbClr val="E8F1F8"/>
                </a:solidFill>
              </a:defRPr>
            </a:pPr>
            <a:r>
              <a:t>•  1. Validate working directory (cwd) and start command.</a:t>
            </a:r>
          </a:p>
          <a:p>
            <a:pPr>
              <a:spcAft>
                <a:spcPts val="1000"/>
              </a:spcAft>
              <a:defRPr sz="1300">
                <a:solidFill>
                  <a:srgbClr val="E8F1F8"/>
                </a:solidFill>
              </a:defRPr>
            </a:pPr>
            <a:r>
              <a:t>•  2. Check if declared port is already busy. If busy, report conflict with holding PID.</a:t>
            </a:r>
          </a:p>
          <a:p>
            <a:pPr>
              <a:spcAft>
                <a:spcPts val="1000"/>
              </a:spcAft>
              <a:defRPr sz="1300">
                <a:solidFill>
                  <a:srgbClr val="E8F1F8"/>
                </a:solidFill>
              </a:defRPr>
            </a:pPr>
            <a:r>
              <a:t>•  3. Create new row in 'runs' table with unique run ID.</a:t>
            </a:r>
          </a:p>
          <a:p>
            <a:pPr>
              <a:spcAft>
                <a:spcPts val="1000"/>
              </a:spcAft>
              <a:defRPr sz="1300">
                <a:solidFill>
                  <a:srgbClr val="E8F1F8"/>
                </a:solidFill>
              </a:defRPr>
            </a:pPr>
            <a:r>
              <a:t>•  4. Spawn subprocess in its own process group with merged stdout+stderr piped to log file.</a:t>
            </a:r>
          </a:p>
          <a:p>
            <a:pPr>
              <a:spcAft>
                <a:spcPts val="1000"/>
              </a:spcAft>
              <a:defRPr sz="1300">
                <a:solidFill>
                  <a:srgbClr val="E8F1F8"/>
                </a:solidFill>
              </a:defRPr>
            </a:pPr>
            <a:r>
              <a:t>•  5. Component status becomes 'starting'.</a:t>
            </a:r>
          </a:p>
          <a:p>
            <a:pPr>
              <a:spcAft>
                <a:spcPts val="1000"/>
              </a:spcAft>
              <a:defRPr sz="1300">
                <a:solidFill>
                  <a:srgbClr val="E8F1F8"/>
                </a:solidFill>
              </a:defRPr>
            </a:pPr>
            <a:r>
              <a:t>•  6. Health check probe runs. When it passes within 30s grace, status turns to 'running' (green lamp).</a:t>
            </a:r>
          </a:p>
        </p:txBody>
      </p:sp>
      <p:sp>
        <p:nvSpPr>
          <p:cNvPr id="9" name="Rounded Rectangle 8"/>
          <p:cNvSpPr/>
          <p:nvPr/>
        </p:nvSpPr>
        <p:spPr>
          <a:xfrm>
            <a:off x="4389120" y="1645920"/>
            <a:ext cx="3383280" cy="4572000"/>
          </a:xfrm>
          <a:prstGeom prst="roundRect">
            <a:avLst/>
          </a:prstGeom>
          <a:solidFill>
            <a:srgbClr val="0F2D49"/>
          </a:solidFill>
          <a:ln w="19050">
            <a:solidFill>
              <a:srgbClr val="FF6B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783080"/>
            <a:ext cx="3017520" cy="365760"/>
          </a:xfrm>
          <a:prstGeom prst="rect">
            <a:avLst/>
          </a:prstGeom>
          <a:noFill/>
        </p:spPr>
        <p:txBody>
          <a:bodyPr wrap="none">
            <a:spAutoFit/>
          </a:bodyPr>
          <a:lstStyle/>
          <a:p>
            <a:pPr>
              <a:defRPr sz="1500" b="1">
                <a:solidFill>
                  <a:srgbClr val="63B8FF"/>
                </a:solidFill>
              </a:defRPr>
            </a:pPr>
            <a:r>
              <a:t>STOP FLOW</a:t>
            </a:r>
          </a:p>
        </p:txBody>
      </p:sp>
      <p:sp>
        <p:nvSpPr>
          <p:cNvPr id="11" name="TextBox 10"/>
          <p:cNvSpPr txBox="1"/>
          <p:nvPr/>
        </p:nvSpPr>
        <p:spPr>
          <a:xfrm>
            <a:off x="4480560" y="2194560"/>
            <a:ext cx="3200400" cy="3840480"/>
          </a:xfrm>
          <a:prstGeom prst="rect">
            <a:avLst/>
          </a:prstGeom>
          <a:noFill/>
        </p:spPr>
        <p:txBody>
          <a:bodyPr wrap="square">
            <a:spAutoFit/>
          </a:bodyPr>
          <a:lstStyle/>
          <a:p>
            <a:pPr>
              <a:spcAft>
                <a:spcPts val="1000"/>
              </a:spcAft>
              <a:defRPr sz="1300">
                <a:solidFill>
                  <a:srgbClr val="E8F1F8"/>
                </a:solidFill>
              </a:defRPr>
            </a:pPr>
            <a:r>
              <a:t>•  1. Set user_stopped flag to True (prevents autorestart from triggering).</a:t>
            </a:r>
          </a:p>
          <a:p>
            <a:pPr>
              <a:spcAft>
                <a:spcPts val="1000"/>
              </a:spcAft>
              <a:defRPr sz="1300">
                <a:solidFill>
                  <a:srgbClr val="E8F1F8"/>
                </a:solidFill>
              </a:defRPr>
            </a:pPr>
            <a:r>
              <a:t>•  2. If custom stop_cmd defined, execute it.</a:t>
            </a:r>
          </a:p>
          <a:p>
            <a:pPr>
              <a:spcAft>
                <a:spcPts val="1000"/>
              </a:spcAft>
              <a:defRPr sz="1300">
                <a:solidFill>
                  <a:srgbClr val="E8F1F8"/>
                </a:solidFill>
              </a:defRPr>
            </a:pPr>
            <a:r>
              <a:t>•  3. Otherwise, kill the entire process tree: send SIGTERM (or terminate on Windows).</a:t>
            </a:r>
          </a:p>
          <a:p>
            <a:pPr>
              <a:spcAft>
                <a:spcPts val="1000"/>
              </a:spcAft>
              <a:defRPr sz="1300">
                <a:solidFill>
                  <a:srgbClr val="E8F1F8"/>
                </a:solidFill>
              </a:defRPr>
            </a:pPr>
            <a:r>
              <a:t>•  4. Wait up to 5 seconds gracefully.</a:t>
            </a:r>
          </a:p>
          <a:p>
            <a:pPr>
              <a:spcAft>
                <a:spcPts val="1000"/>
              </a:spcAft>
              <a:defRPr sz="1300">
                <a:solidFill>
                  <a:srgbClr val="E8F1F8"/>
                </a:solidFill>
              </a:defRPr>
            </a:pPr>
            <a:r>
              <a:t>•  5. Force kill (SIGKILL or taskkill /T /F on Windows) if still clinging to life.</a:t>
            </a:r>
          </a:p>
          <a:p>
            <a:pPr>
              <a:spcAft>
                <a:spcPts val="1000"/>
              </a:spcAft>
              <a:defRPr sz="1300">
                <a:solidFill>
                  <a:srgbClr val="E8F1F8"/>
                </a:solidFill>
              </a:defRPr>
            </a:pPr>
            <a:r>
              <a:t>•  6. Record ended_at in database and turn status lamp to 'stopped'.</a:t>
            </a:r>
          </a:p>
        </p:txBody>
      </p:sp>
      <p:sp>
        <p:nvSpPr>
          <p:cNvPr id="12" name="Rounded Rectangle 11"/>
          <p:cNvSpPr/>
          <p:nvPr/>
        </p:nvSpPr>
        <p:spPr>
          <a:xfrm>
            <a:off x="8046720" y="1645920"/>
            <a:ext cx="3383280" cy="4572000"/>
          </a:xfrm>
          <a:prstGeom prst="roundRect">
            <a:avLst/>
          </a:prstGeom>
          <a:solidFill>
            <a:srgbClr val="0F2D49"/>
          </a:solidFill>
          <a:ln w="19050">
            <a:solidFill>
              <a:srgbClr val="63B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783080"/>
            <a:ext cx="3017520" cy="365760"/>
          </a:xfrm>
          <a:prstGeom prst="rect">
            <a:avLst/>
          </a:prstGeom>
          <a:noFill/>
        </p:spPr>
        <p:txBody>
          <a:bodyPr wrap="none">
            <a:spAutoFit/>
          </a:bodyPr>
          <a:lstStyle/>
          <a:p>
            <a:pPr>
              <a:defRPr sz="1500" b="1">
                <a:solidFill>
                  <a:srgbClr val="63B8FF"/>
                </a:solidFill>
              </a:defRPr>
            </a:pPr>
            <a:r>
              <a:t>RESTART &amp; ORDERING</a:t>
            </a:r>
          </a:p>
        </p:txBody>
      </p:sp>
      <p:sp>
        <p:nvSpPr>
          <p:cNvPr id="14" name="TextBox 13"/>
          <p:cNvSpPr txBox="1"/>
          <p:nvPr/>
        </p:nvSpPr>
        <p:spPr>
          <a:xfrm>
            <a:off x="8138160" y="2194560"/>
            <a:ext cx="3200400" cy="3840480"/>
          </a:xfrm>
          <a:prstGeom prst="rect">
            <a:avLst/>
          </a:prstGeom>
          <a:noFill/>
        </p:spPr>
        <p:txBody>
          <a:bodyPr wrap="square">
            <a:spAutoFit/>
          </a:bodyPr>
          <a:lstStyle/>
          <a:p>
            <a:pPr>
              <a:spcAft>
                <a:spcPts val="1000"/>
              </a:spcAft>
              <a:defRPr sz="1300">
                <a:solidFill>
                  <a:srgbClr val="E8F1F8"/>
                </a:solidFill>
              </a:defRPr>
            </a:pPr>
            <a:r>
              <a:t>•  Restart: Sequentially executes Stop flow, waits for port release, then executes Start flow.</a:t>
            </a:r>
          </a:p>
          <a:p>
            <a:pPr>
              <a:spcAft>
                <a:spcPts val="1000"/>
              </a:spcAft>
              <a:defRPr sz="1300">
                <a:solidFill>
                  <a:srgbClr val="E8F1F8"/>
                </a:solidFill>
              </a:defRPr>
            </a:pPr>
            <a:r>
              <a:t>•  Ordered Application Boot:</a:t>
            </a:r>
          </a:p>
          <a:p>
            <a:pPr>
              <a:spcAft>
                <a:spcPts val="1000"/>
              </a:spcAft>
              <a:defRPr sz="1300">
                <a:solidFill>
                  <a:srgbClr val="E8F1F8"/>
                </a:solidFill>
              </a:defRPr>
            </a:pPr>
            <a:r>
              <a:t>•  • Tier 1 (Database): Starts first, waits until healthy.</a:t>
            </a:r>
          </a:p>
          <a:p>
            <a:pPr>
              <a:spcAft>
                <a:spcPts val="1000"/>
              </a:spcAft>
              <a:defRPr sz="1300">
                <a:solidFill>
                  <a:srgbClr val="E8F1F8"/>
                </a:solidFill>
              </a:defRPr>
            </a:pPr>
            <a:r>
              <a:t>•  • Tier 2 (Backend): Starts second, waits until healthy.</a:t>
            </a:r>
          </a:p>
          <a:p>
            <a:pPr>
              <a:spcAft>
                <a:spcPts val="1000"/>
              </a:spcAft>
              <a:defRPr sz="1300">
                <a:solidFill>
                  <a:srgbClr val="E8F1F8"/>
                </a:solidFill>
              </a:defRPr>
            </a:pPr>
            <a:r>
              <a:t>•  • Tier 3 (Frontend): Starts last once API is up.</a:t>
            </a:r>
          </a:p>
          <a:p>
            <a:pPr>
              <a:spcAft>
                <a:spcPts val="1000"/>
              </a:spcAft>
              <a:defRPr sz="1300">
                <a:solidFill>
                  <a:srgbClr val="E8F1F8"/>
                </a:solidFill>
              </a:defRPr>
            </a:pPr>
            <a:r>
              <a:t>•  Application Shutdown:</a:t>
            </a:r>
          </a:p>
          <a:p>
            <a:pPr>
              <a:spcAft>
                <a:spcPts val="1000"/>
              </a:spcAft>
              <a:defRPr sz="1300">
                <a:solidFill>
                  <a:srgbClr val="E8F1F8"/>
                </a:solidFill>
              </a:defRPr>
            </a:pPr>
            <a:r>
              <a:t>•  • Shuts down in exact reverse order (Frontend ➔ Backend ➔ Database).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8: STATUS ENGINE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How Status is Detected (Lamps &amp; States)</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1371600"/>
          </a:xfrm>
          <a:prstGeom prst="roundRect">
            <a:avLst/>
          </a:prstGeom>
          <a:solidFill>
            <a:srgbClr val="0F2D49"/>
          </a:solidFill>
          <a:ln w="19050">
            <a:solidFill>
              <a:srgbClr val="8DAF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846320" cy="365760"/>
          </a:xfrm>
          <a:prstGeom prst="rect">
            <a:avLst/>
          </a:prstGeom>
          <a:noFill/>
        </p:spPr>
        <p:txBody>
          <a:bodyPr wrap="none">
            <a:spAutoFit/>
          </a:bodyPr>
          <a:lstStyle/>
          <a:p>
            <a:pPr>
              <a:defRPr sz="1500" b="1">
                <a:solidFill>
                  <a:srgbClr val="63B8FF"/>
                </a:solidFill>
              </a:defRPr>
            </a:pPr>
            <a:r>
              <a:t>STOPPED</a:t>
            </a:r>
          </a:p>
        </p:txBody>
      </p:sp>
      <p:sp>
        <p:nvSpPr>
          <p:cNvPr id="8" name="TextBox 7"/>
          <p:cNvSpPr txBox="1"/>
          <p:nvPr/>
        </p:nvSpPr>
        <p:spPr>
          <a:xfrm>
            <a:off x="914400" y="2148840"/>
            <a:ext cx="4846320" cy="777240"/>
          </a:xfrm>
          <a:prstGeom prst="rect">
            <a:avLst/>
          </a:prstGeom>
          <a:noFill/>
        </p:spPr>
        <p:txBody>
          <a:bodyPr wrap="square">
            <a:spAutoFit/>
          </a:bodyPr>
          <a:lstStyle/>
          <a:p>
            <a:pPr>
              <a:defRPr sz="1300">
                <a:solidFill>
                  <a:srgbClr val="E8F1F8"/>
                </a:solidFill>
              </a:defRPr>
            </a:pPr>
            <a:r>
              <a:t>Process is not running. Exit code 0 or stopped by user. Power switch OFF.</a:t>
            </a:r>
          </a:p>
        </p:txBody>
      </p:sp>
      <p:sp>
        <p:nvSpPr>
          <p:cNvPr id="9" name="Rounded Rectangle 8"/>
          <p:cNvSpPr/>
          <p:nvPr/>
        </p:nvSpPr>
        <p:spPr>
          <a:xfrm>
            <a:off x="6126480" y="1645920"/>
            <a:ext cx="5212080" cy="1371600"/>
          </a:xfrm>
          <a:prstGeom prst="roundRect">
            <a:avLst/>
          </a:prstGeom>
          <a:solidFill>
            <a:srgbClr val="0F2D49"/>
          </a:solidFill>
          <a:ln w="19050">
            <a:solidFill>
              <a:srgbClr val="63B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783080"/>
            <a:ext cx="4846320" cy="365760"/>
          </a:xfrm>
          <a:prstGeom prst="rect">
            <a:avLst/>
          </a:prstGeom>
          <a:noFill/>
        </p:spPr>
        <p:txBody>
          <a:bodyPr wrap="none">
            <a:spAutoFit/>
          </a:bodyPr>
          <a:lstStyle/>
          <a:p>
            <a:pPr>
              <a:defRPr sz="1500" b="1">
                <a:solidFill>
                  <a:srgbClr val="63B8FF"/>
                </a:solidFill>
              </a:defRPr>
            </a:pPr>
            <a:r>
              <a:t>STARTING</a:t>
            </a:r>
          </a:p>
        </p:txBody>
      </p:sp>
      <p:sp>
        <p:nvSpPr>
          <p:cNvPr id="11" name="TextBox 10"/>
          <p:cNvSpPr txBox="1"/>
          <p:nvPr/>
        </p:nvSpPr>
        <p:spPr>
          <a:xfrm>
            <a:off x="6309360" y="2148840"/>
            <a:ext cx="4846320" cy="777240"/>
          </a:xfrm>
          <a:prstGeom prst="rect">
            <a:avLst/>
          </a:prstGeom>
          <a:noFill/>
        </p:spPr>
        <p:txBody>
          <a:bodyPr wrap="square">
            <a:spAutoFit/>
          </a:bodyPr>
          <a:lstStyle/>
          <a:p>
            <a:pPr>
              <a:defRPr sz="1300">
                <a:solidFill>
                  <a:srgbClr val="E8F1F8"/>
                </a:solidFill>
              </a:defRPr>
            </a:pPr>
            <a:r>
              <a:t>Process spawned. Waiting for health check probe to pass within startup grace period.</a:t>
            </a:r>
          </a:p>
        </p:txBody>
      </p:sp>
      <p:sp>
        <p:nvSpPr>
          <p:cNvPr id="12" name="Rounded Rectangle 11"/>
          <p:cNvSpPr/>
          <p:nvPr/>
        </p:nvSpPr>
        <p:spPr>
          <a:xfrm>
            <a:off x="731520" y="3200400"/>
            <a:ext cx="5212080" cy="1371600"/>
          </a:xfrm>
          <a:prstGeom prst="roundRect">
            <a:avLst/>
          </a:prstGeom>
          <a:solidFill>
            <a:srgbClr val="0F2D49"/>
          </a:solidFill>
          <a:ln w="19050">
            <a:solidFill>
              <a:srgbClr val="34D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37560"/>
            <a:ext cx="4846320" cy="365760"/>
          </a:xfrm>
          <a:prstGeom prst="rect">
            <a:avLst/>
          </a:prstGeom>
          <a:noFill/>
        </p:spPr>
        <p:txBody>
          <a:bodyPr wrap="none">
            <a:spAutoFit/>
          </a:bodyPr>
          <a:lstStyle/>
          <a:p>
            <a:pPr>
              <a:defRPr sz="1500" b="1">
                <a:solidFill>
                  <a:srgbClr val="63B8FF"/>
                </a:solidFill>
              </a:defRPr>
            </a:pPr>
            <a:r>
              <a:t>RUNNING</a:t>
            </a:r>
          </a:p>
        </p:txBody>
      </p:sp>
      <p:sp>
        <p:nvSpPr>
          <p:cNvPr id="14" name="TextBox 13"/>
          <p:cNvSpPr txBox="1"/>
          <p:nvPr/>
        </p:nvSpPr>
        <p:spPr>
          <a:xfrm>
            <a:off x="914400" y="3703320"/>
            <a:ext cx="4846320" cy="777240"/>
          </a:xfrm>
          <a:prstGeom prst="rect">
            <a:avLst/>
          </a:prstGeom>
          <a:noFill/>
        </p:spPr>
        <p:txBody>
          <a:bodyPr wrap="square">
            <a:spAutoFit/>
          </a:bodyPr>
          <a:lstStyle/>
          <a:p>
            <a:pPr>
              <a:defRPr sz="1300">
                <a:solidFill>
                  <a:srgbClr val="E8F1F8"/>
                </a:solidFill>
              </a:defRPr>
            </a:pPr>
            <a:r>
              <a:t>Process is alive and health check passes. Lamp glows bright green. Power switch ON.</a:t>
            </a:r>
          </a:p>
        </p:txBody>
      </p:sp>
      <p:sp>
        <p:nvSpPr>
          <p:cNvPr id="15" name="Rounded Rectangle 14"/>
          <p:cNvSpPr/>
          <p:nvPr/>
        </p:nvSpPr>
        <p:spPr>
          <a:xfrm>
            <a:off x="6126480" y="3200400"/>
            <a:ext cx="5212080" cy="1371600"/>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3337560"/>
            <a:ext cx="4846320" cy="365760"/>
          </a:xfrm>
          <a:prstGeom prst="rect">
            <a:avLst/>
          </a:prstGeom>
          <a:noFill/>
        </p:spPr>
        <p:txBody>
          <a:bodyPr wrap="none">
            <a:spAutoFit/>
          </a:bodyPr>
          <a:lstStyle/>
          <a:p>
            <a:pPr>
              <a:defRPr sz="1500" b="1">
                <a:solidFill>
                  <a:srgbClr val="63B8FF"/>
                </a:solidFill>
              </a:defRPr>
            </a:pPr>
            <a:r>
              <a:t>UNHEALTHY</a:t>
            </a:r>
          </a:p>
        </p:txBody>
      </p:sp>
      <p:sp>
        <p:nvSpPr>
          <p:cNvPr id="17" name="TextBox 16"/>
          <p:cNvSpPr txBox="1"/>
          <p:nvPr/>
        </p:nvSpPr>
        <p:spPr>
          <a:xfrm>
            <a:off x="6309360" y="3703320"/>
            <a:ext cx="4846320" cy="777240"/>
          </a:xfrm>
          <a:prstGeom prst="rect">
            <a:avLst/>
          </a:prstGeom>
          <a:noFill/>
        </p:spPr>
        <p:txBody>
          <a:bodyPr wrap="square">
            <a:spAutoFit/>
          </a:bodyPr>
          <a:lstStyle/>
          <a:p>
            <a:pPr>
              <a:defRPr sz="1300">
                <a:solidFill>
                  <a:srgbClr val="E8F1F8"/>
                </a:solidFill>
              </a:defRPr>
            </a:pPr>
            <a:r>
              <a:t>Process PID is alive, but health check is failing (e.g. HTTP 500 or port unreachable).</a:t>
            </a:r>
          </a:p>
        </p:txBody>
      </p:sp>
      <p:sp>
        <p:nvSpPr>
          <p:cNvPr id="18" name="Rounded Rectangle 17"/>
          <p:cNvSpPr/>
          <p:nvPr/>
        </p:nvSpPr>
        <p:spPr>
          <a:xfrm>
            <a:off x="731520" y="4754880"/>
            <a:ext cx="5212080" cy="1371600"/>
          </a:xfrm>
          <a:prstGeom prst="roundRect">
            <a:avLst/>
          </a:prstGeom>
          <a:solidFill>
            <a:srgbClr val="0F2D49"/>
          </a:solidFill>
          <a:ln w="19050">
            <a:solidFill>
              <a:srgbClr val="FF6B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892040"/>
            <a:ext cx="4846320" cy="365760"/>
          </a:xfrm>
          <a:prstGeom prst="rect">
            <a:avLst/>
          </a:prstGeom>
          <a:noFill/>
        </p:spPr>
        <p:txBody>
          <a:bodyPr wrap="none">
            <a:spAutoFit/>
          </a:bodyPr>
          <a:lstStyle/>
          <a:p>
            <a:pPr>
              <a:defRPr sz="1500" b="1">
                <a:solidFill>
                  <a:srgbClr val="63B8FF"/>
                </a:solidFill>
              </a:defRPr>
            </a:pPr>
            <a:r>
              <a:t>CRASHED</a:t>
            </a:r>
          </a:p>
        </p:txBody>
      </p:sp>
      <p:sp>
        <p:nvSpPr>
          <p:cNvPr id="20" name="TextBox 19"/>
          <p:cNvSpPr txBox="1"/>
          <p:nvPr/>
        </p:nvSpPr>
        <p:spPr>
          <a:xfrm>
            <a:off x="914400" y="5257800"/>
            <a:ext cx="4846320" cy="777240"/>
          </a:xfrm>
          <a:prstGeom prst="rect">
            <a:avLst/>
          </a:prstGeom>
          <a:noFill/>
        </p:spPr>
        <p:txBody>
          <a:bodyPr wrap="square">
            <a:spAutoFit/>
          </a:bodyPr>
          <a:lstStyle/>
          <a:p>
            <a:pPr>
              <a:defRPr sz="1300">
                <a:solidFill>
                  <a:srgbClr val="E8F1F8"/>
                </a:solidFill>
              </a:defRPr>
            </a:pPr>
            <a:r>
              <a:t>Process exited unexpectedly with non-zero exit code. Triggers alert and log capture.</a:t>
            </a:r>
          </a:p>
        </p:txBody>
      </p:sp>
      <p:sp>
        <p:nvSpPr>
          <p:cNvPr id="21" name="Rounded Rectangle 20"/>
          <p:cNvSpPr/>
          <p:nvPr/>
        </p:nvSpPr>
        <p:spPr>
          <a:xfrm>
            <a:off x="6126480" y="4754880"/>
            <a:ext cx="5212080" cy="1371600"/>
          </a:xfrm>
          <a:prstGeom prst="roundRect">
            <a:avLst/>
          </a:prstGeom>
          <a:solidFill>
            <a:srgbClr val="0F2D49"/>
          </a:solidFill>
          <a:ln w="19050">
            <a:solidFill>
              <a:srgbClr val="63B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4892040"/>
            <a:ext cx="4846320" cy="365760"/>
          </a:xfrm>
          <a:prstGeom prst="rect">
            <a:avLst/>
          </a:prstGeom>
          <a:noFill/>
        </p:spPr>
        <p:txBody>
          <a:bodyPr wrap="none">
            <a:spAutoFit/>
          </a:bodyPr>
          <a:lstStyle/>
          <a:p>
            <a:pPr>
              <a:defRPr sz="1500" b="1">
                <a:solidFill>
                  <a:srgbClr val="63B8FF"/>
                </a:solidFill>
              </a:defRPr>
            </a:pPr>
            <a:r>
              <a:t>EXTERNAL</a:t>
            </a:r>
          </a:p>
        </p:txBody>
      </p:sp>
      <p:sp>
        <p:nvSpPr>
          <p:cNvPr id="23" name="TextBox 22"/>
          <p:cNvSpPr txBox="1"/>
          <p:nvPr/>
        </p:nvSpPr>
        <p:spPr>
          <a:xfrm>
            <a:off x="6309360" y="5257800"/>
            <a:ext cx="4846320" cy="777240"/>
          </a:xfrm>
          <a:prstGeom prst="rect">
            <a:avLst/>
          </a:prstGeom>
          <a:noFill/>
        </p:spPr>
        <p:txBody>
          <a:bodyPr wrap="square">
            <a:spAutoFit/>
          </a:bodyPr>
          <a:lstStyle/>
          <a:p>
            <a:pPr>
              <a:defRPr sz="1300">
                <a:solidFill>
                  <a:srgbClr val="E8F1F8"/>
                </a:solidFill>
              </a:defRPr>
            </a:pPr>
            <a:r>
              <a:t>Port is occupied by an external service not launched by Hangar (e.g. system Docker).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9: LOGGING ARCHITECTURE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How Logs Are Collected, Stored &amp; Displayed</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365760"/>
          </a:xfrm>
          <a:prstGeom prst="rect">
            <a:avLst/>
          </a:prstGeom>
          <a:noFill/>
        </p:spPr>
        <p:txBody>
          <a:bodyPr wrap="none">
            <a:spAutoFit/>
          </a:bodyPr>
          <a:lstStyle/>
          <a:p>
            <a:pPr>
              <a:defRPr sz="1500" b="1">
                <a:solidFill>
                  <a:srgbClr val="63B8FF"/>
                </a:solidFill>
              </a:defRPr>
            </a:pPr>
            <a:r>
              <a:t>Direct-to-Disk Log Capture</a:t>
            </a:r>
          </a:p>
        </p:txBody>
      </p:sp>
      <p:sp>
        <p:nvSpPr>
          <p:cNvPr id="8" name="TextBox 7"/>
          <p:cNvSpPr txBox="1"/>
          <p:nvPr/>
        </p:nvSpPr>
        <p:spPr>
          <a:xfrm>
            <a:off x="914400" y="2194560"/>
            <a:ext cx="4754880" cy="3840480"/>
          </a:xfrm>
          <a:prstGeom prst="rect">
            <a:avLst/>
          </a:prstGeom>
          <a:noFill/>
        </p:spPr>
        <p:txBody>
          <a:bodyPr wrap="square">
            <a:spAutoFit/>
          </a:bodyPr>
          <a:lstStyle/>
          <a:p>
            <a:pPr>
              <a:spcAft>
                <a:spcPts val="1000"/>
              </a:spcAft>
              <a:defRPr sz="1300">
                <a:solidFill>
                  <a:srgbClr val="E8F1F8"/>
                </a:solidFill>
              </a:defRPr>
            </a:pPr>
            <a:r>
              <a:t>•  No Pipe Buffering: Child stdout and stderr are merged and written directly into log files by the OS kernel.</a:t>
            </a:r>
          </a:p>
          <a:p>
            <a:pPr>
              <a:spcAft>
                <a:spcPts val="1000"/>
              </a:spcAft>
              <a:defRPr sz="1300">
                <a:solidFill>
                  <a:srgbClr val="E8F1F8"/>
                </a:solidFill>
              </a:defRPr>
            </a:pPr>
            <a:r>
              <a:t>•  File Path: ~/.hangar/logs/&lt;component_id&gt;/run-&lt;run_id&gt;.log</a:t>
            </a:r>
          </a:p>
          <a:p>
            <a:pPr>
              <a:spcAft>
                <a:spcPts val="1000"/>
              </a:spcAft>
              <a:defRPr sz="1300">
                <a:solidFill>
                  <a:srgbClr val="E8F1F8"/>
                </a:solidFill>
              </a:defRPr>
            </a:pPr>
            <a:r>
              <a:t>•  Survival: Because logs are written to disk, they survive browser refreshes and Hangar backend restarts.</a:t>
            </a:r>
          </a:p>
          <a:p>
            <a:pPr>
              <a:spcAft>
                <a:spcPts val="1000"/>
              </a:spcAft>
              <a:defRPr sz="1300">
                <a:solidFill>
                  <a:srgbClr val="E8F1F8"/>
                </a:solidFill>
              </a:defRPr>
            </a:pPr>
            <a:r>
              <a:t>•  System Log Markers: When a process stops or crashes, Hangar writes a system marker line: [hangar] Process exited with code X.</a:t>
            </a:r>
          </a:p>
          <a:p>
            <a:pPr>
              <a:spcAft>
                <a:spcPts val="1000"/>
              </a:spcAft>
              <a:defRPr sz="1300">
                <a:solidFill>
                  <a:srgbClr val="E8F1F8"/>
                </a:solidFill>
              </a:defRPr>
            </a:pPr>
            <a:r>
              <a:t>•  Log Retention: Automatically maintains the last 10 runs per component and caps total disk space.</a:t>
            </a:r>
          </a:p>
        </p:txBody>
      </p:sp>
      <p:sp>
        <p:nvSpPr>
          <p:cNvPr id="9" name="Rounded Rectangle 8"/>
          <p:cNvSpPr/>
          <p:nvPr/>
        </p:nvSpPr>
        <p:spPr>
          <a:xfrm>
            <a:off x="6309360" y="1645920"/>
            <a:ext cx="5120640" cy="45720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365760"/>
          </a:xfrm>
          <a:prstGeom prst="rect">
            <a:avLst/>
          </a:prstGeom>
          <a:noFill/>
        </p:spPr>
        <p:txBody>
          <a:bodyPr wrap="none">
            <a:spAutoFit/>
          </a:bodyPr>
          <a:lstStyle/>
          <a:p>
            <a:pPr>
              <a:defRPr sz="1500" b="1">
                <a:solidFill>
                  <a:srgbClr val="63B8FF"/>
                </a:solidFill>
              </a:defRPr>
            </a:pPr>
            <a:r>
              <a:t>Real-Time Terminal Viewer</a:t>
            </a:r>
          </a:p>
        </p:txBody>
      </p:sp>
      <p:sp>
        <p:nvSpPr>
          <p:cNvPr id="11" name="TextBox 10"/>
          <p:cNvSpPr txBox="1"/>
          <p:nvPr/>
        </p:nvSpPr>
        <p:spPr>
          <a:xfrm>
            <a:off x="6492240" y="2194560"/>
            <a:ext cx="4754880" cy="3840480"/>
          </a:xfrm>
          <a:prstGeom prst="rect">
            <a:avLst/>
          </a:prstGeom>
          <a:noFill/>
        </p:spPr>
        <p:txBody>
          <a:bodyPr wrap="square">
            <a:spAutoFit/>
          </a:bodyPr>
          <a:lstStyle/>
          <a:p>
            <a:pPr>
              <a:spcAft>
                <a:spcPts val="1000"/>
              </a:spcAft>
              <a:defRPr sz="1300">
                <a:solidFill>
                  <a:srgbClr val="E8F1F8"/>
                </a:solidFill>
              </a:defRPr>
            </a:pPr>
            <a:r>
              <a:t>•  Live Tailer Engine: ComponentLogTailer checks file byte offset every 200ms using asynchronous file I/O.</a:t>
            </a:r>
          </a:p>
          <a:p>
            <a:pPr>
              <a:spcAft>
                <a:spcPts val="1000"/>
              </a:spcAft>
              <a:defRPr sz="1300">
                <a:solidFill>
                  <a:srgbClr val="E8F1F8"/>
                </a:solidFill>
              </a:defRPr>
            </a:pPr>
            <a:r>
              <a:t>•  WebSocket Push: Pushes up to 50 new lines at a time directly to the browser viewer.</a:t>
            </a:r>
          </a:p>
          <a:p>
            <a:pPr>
              <a:spcAft>
                <a:spcPts val="1000"/>
              </a:spcAft>
              <a:defRPr sz="1300">
                <a:solidFill>
                  <a:srgbClr val="E8F1F8"/>
                </a:solidFill>
              </a:defRPr>
            </a:pPr>
            <a:r>
              <a:t>•  ANSI Color Rendering: Terminal color codes are stripped for search indexing, but rendered as true terminal colors in the UI.</a:t>
            </a:r>
          </a:p>
          <a:p>
            <a:pPr>
              <a:spcAft>
                <a:spcPts val="1000"/>
              </a:spcAft>
              <a:defRPr sz="1300">
                <a:solidFill>
                  <a:srgbClr val="E8F1F8"/>
                </a:solidFill>
              </a:defRPr>
            </a:pPr>
            <a:r>
              <a:t>•  Crash Context Capture: When a crash occurs, Hangar automatically snapshots the last 20 log lines and attaches them to the activity alert.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10: DATA ARCHITECTURE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How Data is Stored: SQLite Database Schema</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685800"/>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10332720" cy="548640"/>
          </a:xfrm>
          <a:prstGeom prst="rect">
            <a:avLst/>
          </a:prstGeom>
          <a:noFill/>
        </p:spPr>
        <p:txBody>
          <a:bodyPr wrap="square">
            <a:spAutoFit/>
          </a:bodyPr>
          <a:lstStyle/>
          <a:p>
            <a:pPr>
              <a:defRPr b="1" sz="1300">
                <a:solidFill>
                  <a:srgbClr val="63B8FF"/>
                </a:solidFill>
              </a:defRPr>
            </a:pPr>
            <a:r>
              <a:t>TABLE: applications</a:t>
            </a:r>
            <a:br/>
          </a:p>
          <a:p>
            <a:pPr>
              <a:defRPr sz="1100">
                <a:solidFill>
                  <a:srgbClr val="E8F1F8"/>
                </a:solidFill>
              </a:defRPr>
            </a:pPr>
            <a:r>
              <a:t>id (UUID), name, description, icon, path (folder), tags (JSON), favorite, sort, start_mode, created_at</a:t>
            </a:r>
          </a:p>
        </p:txBody>
      </p:sp>
      <p:sp>
        <p:nvSpPr>
          <p:cNvPr id="8" name="Rounded Rectangle 7"/>
          <p:cNvSpPr/>
          <p:nvPr/>
        </p:nvSpPr>
        <p:spPr>
          <a:xfrm>
            <a:off x="731520" y="2423160"/>
            <a:ext cx="10728655" cy="685800"/>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496312"/>
            <a:ext cx="10332720" cy="548640"/>
          </a:xfrm>
          <a:prstGeom prst="rect">
            <a:avLst/>
          </a:prstGeom>
          <a:noFill/>
        </p:spPr>
        <p:txBody>
          <a:bodyPr wrap="square">
            <a:spAutoFit/>
          </a:bodyPr>
          <a:lstStyle/>
          <a:p>
            <a:pPr>
              <a:defRPr b="1" sz="1300">
                <a:solidFill>
                  <a:srgbClr val="63B8FF"/>
                </a:solidFill>
              </a:defRPr>
            </a:pPr>
            <a:r>
              <a:t>TABLE: components</a:t>
            </a:r>
            <a:br/>
          </a:p>
          <a:p>
            <a:pPr>
              <a:defRPr sz="1100">
                <a:solidFill>
                  <a:srgbClr val="E8F1F8"/>
                </a:solidFill>
              </a:defRPr>
            </a:pPr>
            <a:r>
              <a:t>id, application_id, kind (frontend/backend/db), name, cwd, start_cmd, stop_cmd, env, port, url, health (JSON), tier, autorestart</a:t>
            </a:r>
          </a:p>
        </p:txBody>
      </p:sp>
      <p:sp>
        <p:nvSpPr>
          <p:cNvPr id="10" name="Rounded Rectangle 9"/>
          <p:cNvSpPr/>
          <p:nvPr/>
        </p:nvSpPr>
        <p:spPr>
          <a:xfrm>
            <a:off x="731520" y="3200400"/>
            <a:ext cx="10728655" cy="685800"/>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73552"/>
            <a:ext cx="10332720" cy="548640"/>
          </a:xfrm>
          <a:prstGeom prst="rect">
            <a:avLst/>
          </a:prstGeom>
          <a:noFill/>
        </p:spPr>
        <p:txBody>
          <a:bodyPr wrap="square">
            <a:spAutoFit/>
          </a:bodyPr>
          <a:lstStyle/>
          <a:p>
            <a:pPr>
              <a:defRPr b="1" sz="1300">
                <a:solidFill>
                  <a:srgbClr val="63B8FF"/>
                </a:solidFill>
              </a:defRPr>
            </a:pPr>
            <a:r>
              <a:t>TABLE: runs</a:t>
            </a:r>
            <a:br/>
          </a:p>
          <a:p>
            <a:pPr>
              <a:defRPr sz="1100">
                <a:solidFill>
                  <a:srgbClr val="E8F1F8"/>
                </a:solidFill>
              </a:defRPr>
            </a:pPr>
            <a:r>
              <a:t>id, component_id, pid, create_time, started_at, ended_at, exit_code, stop_reason (user/crash/restart/system), log_path</a:t>
            </a:r>
          </a:p>
        </p:txBody>
      </p:sp>
      <p:sp>
        <p:nvSpPr>
          <p:cNvPr id="12" name="Rounded Rectangle 11"/>
          <p:cNvSpPr/>
          <p:nvPr/>
        </p:nvSpPr>
        <p:spPr>
          <a:xfrm>
            <a:off x="731520" y="3977639"/>
            <a:ext cx="10728655" cy="685800"/>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50791"/>
            <a:ext cx="10332720" cy="548640"/>
          </a:xfrm>
          <a:prstGeom prst="rect">
            <a:avLst/>
          </a:prstGeom>
          <a:noFill/>
        </p:spPr>
        <p:txBody>
          <a:bodyPr wrap="square">
            <a:spAutoFit/>
          </a:bodyPr>
          <a:lstStyle/>
          <a:p>
            <a:pPr>
              <a:defRPr b="1" sz="1300">
                <a:solidFill>
                  <a:srgbClr val="63B8FF"/>
                </a:solidFill>
              </a:defRPr>
            </a:pPr>
            <a:r>
              <a:t>TABLE: events</a:t>
            </a:r>
            <a:br/>
          </a:p>
          <a:p>
            <a:pPr>
              <a:defRPr sz="1100">
                <a:solidFill>
                  <a:srgbClr val="E8F1F8"/>
                </a:solidFill>
              </a:defRPr>
            </a:pPr>
            <a:r>
              <a:t>id, ts, level (info/warn/error), type, application_id, component_id, title, reason, detail (JSON), read</a:t>
            </a:r>
          </a:p>
        </p:txBody>
      </p:sp>
      <p:sp>
        <p:nvSpPr>
          <p:cNvPr id="14" name="Rounded Rectangle 13"/>
          <p:cNvSpPr/>
          <p:nvPr/>
        </p:nvSpPr>
        <p:spPr>
          <a:xfrm>
            <a:off x="731520" y="4754880"/>
            <a:ext cx="10728655" cy="685800"/>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828032"/>
            <a:ext cx="10332720" cy="548640"/>
          </a:xfrm>
          <a:prstGeom prst="rect">
            <a:avLst/>
          </a:prstGeom>
          <a:noFill/>
        </p:spPr>
        <p:txBody>
          <a:bodyPr wrap="square">
            <a:spAutoFit/>
          </a:bodyPr>
          <a:lstStyle/>
          <a:p>
            <a:pPr>
              <a:defRPr b="1" sz="1300">
                <a:solidFill>
                  <a:srgbClr val="63B8FF"/>
                </a:solidFill>
              </a:defRPr>
            </a:pPr>
            <a:r>
              <a:t>TABLE: metrics_1m</a:t>
            </a:r>
            <a:br/>
          </a:p>
          <a:p>
            <a:pPr>
              <a:defRPr sz="1100">
                <a:solidFill>
                  <a:srgbClr val="E8F1F8"/>
                </a:solidFill>
              </a:defRPr>
            </a:pPr>
            <a:r>
              <a:t>ts, component_id, cpu_pct, rss_mb (persisted 1-minute historical averages for 7-day graphs)</a:t>
            </a:r>
          </a:p>
        </p:txBody>
      </p:sp>
      <p:sp>
        <p:nvSpPr>
          <p:cNvPr id="16" name="Rounded Rectangle 15"/>
          <p:cNvSpPr/>
          <p:nvPr/>
        </p:nvSpPr>
        <p:spPr>
          <a:xfrm>
            <a:off x="731520" y="5532120"/>
            <a:ext cx="10728655" cy="685800"/>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05272"/>
            <a:ext cx="10332720" cy="548640"/>
          </a:xfrm>
          <a:prstGeom prst="rect">
            <a:avLst/>
          </a:prstGeom>
          <a:noFill/>
        </p:spPr>
        <p:txBody>
          <a:bodyPr wrap="square">
            <a:spAutoFit/>
          </a:bodyPr>
          <a:lstStyle/>
          <a:p>
            <a:pPr>
              <a:defRPr b="1" sz="1300">
                <a:solidFill>
                  <a:srgbClr val="63B8FF"/>
                </a:solidFill>
              </a:defRPr>
            </a:pPr>
            <a:r>
              <a:t>TABLE: settings</a:t>
            </a:r>
            <a:br/>
          </a:p>
          <a:p>
            <a:pPr>
              <a:defRPr sz="1100">
                <a:solidFill>
                  <a:srgbClr val="E8F1F8"/>
                </a:solidFill>
              </a:defRPr>
            </a:pPr>
            <a:r>
              <a:t>key, value (stores theme, shell override, startup grace, health interval, alert thresholds, on_exit)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11: USER INTERFACE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Page-by-Page Walkthrough: The 6 Dashboard Screens</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13716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846320" cy="365760"/>
          </a:xfrm>
          <a:prstGeom prst="rect">
            <a:avLst/>
          </a:prstGeom>
          <a:noFill/>
        </p:spPr>
        <p:txBody>
          <a:bodyPr wrap="none">
            <a:spAutoFit/>
          </a:bodyPr>
          <a:lstStyle/>
          <a:p>
            <a:pPr>
              <a:defRPr sz="1500" b="1">
                <a:solidFill>
                  <a:srgbClr val="63B8FF"/>
                </a:solidFill>
              </a:defRPr>
            </a:pPr>
            <a:r>
              <a:t>1. Overview</a:t>
            </a:r>
          </a:p>
        </p:txBody>
      </p:sp>
      <p:sp>
        <p:nvSpPr>
          <p:cNvPr id="8" name="TextBox 7"/>
          <p:cNvSpPr txBox="1"/>
          <p:nvPr/>
        </p:nvSpPr>
        <p:spPr>
          <a:xfrm>
            <a:off x="914400" y="2103120"/>
            <a:ext cx="4846320" cy="822960"/>
          </a:xfrm>
          <a:prstGeom prst="rect">
            <a:avLst/>
          </a:prstGeom>
          <a:noFill/>
        </p:spPr>
        <p:txBody>
          <a:bodyPr wrap="square">
            <a:spAutoFit/>
          </a:bodyPr>
          <a:lstStyle/>
          <a:p>
            <a:pPr>
              <a:defRPr sz="1100">
                <a:solidFill>
                  <a:srgbClr val="E8F1F8"/>
                </a:solidFill>
              </a:defRPr>
            </a:pPr>
            <a:r>
              <a:t>Master power control, total running count, live system CPU/RAM gauges, project rack units, and recent alerts.</a:t>
            </a:r>
          </a:p>
          <a:p>
            <a:pPr>
              <a:defRPr sz="1100" b="1">
                <a:solidFill>
                  <a:srgbClr val="8DAFC8"/>
                </a:solidFill>
              </a:defRPr>
            </a:pPr>
            <a:r>
              <a:t>Data Feed: GET /api/overview</a:t>
            </a:r>
          </a:p>
        </p:txBody>
      </p:sp>
      <p:sp>
        <p:nvSpPr>
          <p:cNvPr id="9" name="Rounded Rectangle 8"/>
          <p:cNvSpPr/>
          <p:nvPr/>
        </p:nvSpPr>
        <p:spPr>
          <a:xfrm>
            <a:off x="6126480" y="1645920"/>
            <a:ext cx="5212080" cy="13716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783080"/>
            <a:ext cx="4846320" cy="365760"/>
          </a:xfrm>
          <a:prstGeom prst="rect">
            <a:avLst/>
          </a:prstGeom>
          <a:noFill/>
        </p:spPr>
        <p:txBody>
          <a:bodyPr wrap="none">
            <a:spAutoFit/>
          </a:bodyPr>
          <a:lstStyle/>
          <a:p>
            <a:pPr>
              <a:defRPr sz="1500" b="1">
                <a:solidFill>
                  <a:srgbClr val="63B8FF"/>
                </a:solidFill>
              </a:defRPr>
            </a:pPr>
            <a:r>
              <a:t>2. Applications</a:t>
            </a:r>
          </a:p>
        </p:txBody>
      </p:sp>
      <p:sp>
        <p:nvSpPr>
          <p:cNvPr id="11" name="TextBox 10"/>
          <p:cNvSpPr txBox="1"/>
          <p:nvPr/>
        </p:nvSpPr>
        <p:spPr>
          <a:xfrm>
            <a:off x="6309360" y="2103120"/>
            <a:ext cx="4846320" cy="822960"/>
          </a:xfrm>
          <a:prstGeom prst="rect">
            <a:avLst/>
          </a:prstGeom>
          <a:noFill/>
        </p:spPr>
        <p:txBody>
          <a:bodyPr wrap="square">
            <a:spAutoFit/>
          </a:bodyPr>
          <a:lstStyle/>
          <a:p>
            <a:pPr>
              <a:defRPr sz="1100">
                <a:solidFill>
                  <a:srgbClr val="E8F1F8"/>
                </a:solidFill>
              </a:defRPr>
            </a:pPr>
            <a:r>
              <a:t>Full project management: start/stop ordered sequences, open project in VS Code or Explorer, add projects, and remove projects.</a:t>
            </a:r>
          </a:p>
          <a:p>
            <a:pPr>
              <a:defRPr sz="1100" b="1">
                <a:solidFill>
                  <a:srgbClr val="8DAFC8"/>
                </a:solidFill>
              </a:defRPr>
            </a:pPr>
            <a:r>
              <a:t>Data Feed: GET /api/applications</a:t>
            </a:r>
          </a:p>
        </p:txBody>
      </p:sp>
      <p:sp>
        <p:nvSpPr>
          <p:cNvPr id="12" name="Rounded Rectangle 11"/>
          <p:cNvSpPr/>
          <p:nvPr/>
        </p:nvSpPr>
        <p:spPr>
          <a:xfrm>
            <a:off x="731520" y="3200400"/>
            <a:ext cx="5212080" cy="13716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37560"/>
            <a:ext cx="4846320" cy="365760"/>
          </a:xfrm>
          <a:prstGeom prst="rect">
            <a:avLst/>
          </a:prstGeom>
          <a:noFill/>
        </p:spPr>
        <p:txBody>
          <a:bodyPr wrap="none">
            <a:spAutoFit/>
          </a:bodyPr>
          <a:lstStyle/>
          <a:p>
            <a:pPr>
              <a:defRPr sz="1500" b="1">
                <a:solidFill>
                  <a:srgbClr val="63B8FF"/>
                </a:solidFill>
              </a:defRPr>
            </a:pPr>
            <a:r>
              <a:t>3. Logs</a:t>
            </a:r>
          </a:p>
        </p:txBody>
      </p:sp>
      <p:sp>
        <p:nvSpPr>
          <p:cNvPr id="14" name="TextBox 13"/>
          <p:cNvSpPr txBox="1"/>
          <p:nvPr/>
        </p:nvSpPr>
        <p:spPr>
          <a:xfrm>
            <a:off x="914400" y="3657600"/>
            <a:ext cx="4846320" cy="822960"/>
          </a:xfrm>
          <a:prstGeom prst="rect">
            <a:avLst/>
          </a:prstGeom>
          <a:noFill/>
        </p:spPr>
        <p:txBody>
          <a:bodyPr wrap="square">
            <a:spAutoFit/>
          </a:bodyPr>
          <a:lstStyle/>
          <a:p>
            <a:pPr>
              <a:defRPr sz="1100">
                <a:solidFill>
                  <a:srgbClr val="E8F1F8"/>
                </a:solidFill>
              </a:defRPr>
            </a:pPr>
            <a:r>
              <a:t>Dedicated full-screen terminal viewer for any service, with live auto-scroll, clear log, download, and past run inspection.</a:t>
            </a:r>
          </a:p>
          <a:p>
            <a:pPr>
              <a:defRPr sz="1100" b="1">
                <a:solidFill>
                  <a:srgbClr val="8DAFC8"/>
                </a:solidFill>
              </a:defRPr>
            </a:pPr>
            <a:r>
              <a:t>Data Feed: GET /api/components/{id}/logs</a:t>
            </a:r>
          </a:p>
        </p:txBody>
      </p:sp>
      <p:sp>
        <p:nvSpPr>
          <p:cNvPr id="15" name="Rounded Rectangle 14"/>
          <p:cNvSpPr/>
          <p:nvPr/>
        </p:nvSpPr>
        <p:spPr>
          <a:xfrm>
            <a:off x="6126480" y="3200400"/>
            <a:ext cx="5212080" cy="13716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3337560"/>
            <a:ext cx="4846320" cy="365760"/>
          </a:xfrm>
          <a:prstGeom prst="rect">
            <a:avLst/>
          </a:prstGeom>
          <a:noFill/>
        </p:spPr>
        <p:txBody>
          <a:bodyPr wrap="none">
            <a:spAutoFit/>
          </a:bodyPr>
          <a:lstStyle/>
          <a:p>
            <a:pPr>
              <a:defRPr sz="1500" b="1">
                <a:solidFill>
                  <a:srgbClr val="63B8FF"/>
                </a:solidFill>
              </a:defRPr>
            </a:pPr>
            <a:r>
              <a:t>4. Ports</a:t>
            </a:r>
          </a:p>
        </p:txBody>
      </p:sp>
      <p:sp>
        <p:nvSpPr>
          <p:cNvPr id="17" name="TextBox 16"/>
          <p:cNvSpPr txBox="1"/>
          <p:nvPr/>
        </p:nvSpPr>
        <p:spPr>
          <a:xfrm>
            <a:off x="6309360" y="3657600"/>
            <a:ext cx="4846320" cy="822960"/>
          </a:xfrm>
          <a:prstGeom prst="rect">
            <a:avLst/>
          </a:prstGeom>
          <a:noFill/>
        </p:spPr>
        <p:txBody>
          <a:bodyPr wrap="square">
            <a:spAutoFit/>
          </a:bodyPr>
          <a:lstStyle/>
          <a:p>
            <a:pPr>
              <a:defRPr sz="1100">
                <a:solidFill>
                  <a:srgbClr val="E8F1F8"/>
                </a:solidFill>
              </a:defRPr>
            </a:pPr>
            <a:r>
              <a:t>Port inspection table: shows listening TCP ports, owning PIDs, and provides a 1-click 'Kill and free port' button.</a:t>
            </a:r>
          </a:p>
          <a:p>
            <a:pPr>
              <a:defRPr sz="1100" b="1">
                <a:solidFill>
                  <a:srgbClr val="8DAFC8"/>
                </a:solidFill>
              </a:defRPr>
            </a:pPr>
            <a:r>
              <a:t>Data Feed: GET /api/ports</a:t>
            </a:r>
          </a:p>
        </p:txBody>
      </p:sp>
      <p:sp>
        <p:nvSpPr>
          <p:cNvPr id="18" name="Rounded Rectangle 17"/>
          <p:cNvSpPr/>
          <p:nvPr/>
        </p:nvSpPr>
        <p:spPr>
          <a:xfrm>
            <a:off x="731520" y="4754880"/>
            <a:ext cx="5212080" cy="13716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892040"/>
            <a:ext cx="4846320" cy="365760"/>
          </a:xfrm>
          <a:prstGeom prst="rect">
            <a:avLst/>
          </a:prstGeom>
          <a:noFill/>
        </p:spPr>
        <p:txBody>
          <a:bodyPr wrap="none">
            <a:spAutoFit/>
          </a:bodyPr>
          <a:lstStyle/>
          <a:p>
            <a:pPr>
              <a:defRPr sz="1500" b="1">
                <a:solidFill>
                  <a:srgbClr val="63B8FF"/>
                </a:solidFill>
              </a:defRPr>
            </a:pPr>
            <a:r>
              <a:t>5. Activity</a:t>
            </a:r>
          </a:p>
        </p:txBody>
      </p:sp>
      <p:sp>
        <p:nvSpPr>
          <p:cNvPr id="20" name="TextBox 19"/>
          <p:cNvSpPr txBox="1"/>
          <p:nvPr/>
        </p:nvSpPr>
        <p:spPr>
          <a:xfrm>
            <a:off x="914400" y="5212080"/>
            <a:ext cx="4846320" cy="822960"/>
          </a:xfrm>
          <a:prstGeom prst="rect">
            <a:avLst/>
          </a:prstGeom>
          <a:noFill/>
        </p:spPr>
        <p:txBody>
          <a:bodyPr wrap="square">
            <a:spAutoFit/>
          </a:bodyPr>
          <a:lstStyle/>
          <a:p>
            <a:pPr>
              <a:defRPr sz="1100">
                <a:solidFill>
                  <a:srgbClr val="E8F1F8"/>
                </a:solidFill>
              </a:defRPr>
            </a:pPr>
            <a:r>
              <a:t>Chronological system event timeline: shows every start, stop, restart, crash report, and warning with last 20 log lines.</a:t>
            </a:r>
          </a:p>
          <a:p>
            <a:pPr>
              <a:defRPr sz="1100" b="1">
                <a:solidFill>
                  <a:srgbClr val="8DAFC8"/>
                </a:solidFill>
              </a:defRPr>
            </a:pPr>
            <a:r>
              <a:t>Data Feed: GET /api/events</a:t>
            </a:r>
          </a:p>
        </p:txBody>
      </p:sp>
      <p:sp>
        <p:nvSpPr>
          <p:cNvPr id="21" name="Rounded Rectangle 20"/>
          <p:cNvSpPr/>
          <p:nvPr/>
        </p:nvSpPr>
        <p:spPr>
          <a:xfrm>
            <a:off x="6126480" y="4754880"/>
            <a:ext cx="5212080" cy="1371600"/>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4892040"/>
            <a:ext cx="4846320" cy="365760"/>
          </a:xfrm>
          <a:prstGeom prst="rect">
            <a:avLst/>
          </a:prstGeom>
          <a:noFill/>
        </p:spPr>
        <p:txBody>
          <a:bodyPr wrap="none">
            <a:spAutoFit/>
          </a:bodyPr>
          <a:lstStyle/>
          <a:p>
            <a:pPr>
              <a:defRPr sz="1500" b="1">
                <a:solidFill>
                  <a:srgbClr val="63B8FF"/>
                </a:solidFill>
              </a:defRPr>
            </a:pPr>
            <a:r>
              <a:t>6. Settings</a:t>
            </a:r>
          </a:p>
        </p:txBody>
      </p:sp>
      <p:sp>
        <p:nvSpPr>
          <p:cNvPr id="23" name="TextBox 22"/>
          <p:cNvSpPr txBox="1"/>
          <p:nvPr/>
        </p:nvSpPr>
        <p:spPr>
          <a:xfrm>
            <a:off x="6309360" y="5212080"/>
            <a:ext cx="4846320" cy="822960"/>
          </a:xfrm>
          <a:prstGeom prst="rect">
            <a:avLst/>
          </a:prstGeom>
          <a:noFill/>
        </p:spPr>
        <p:txBody>
          <a:bodyPr wrap="square">
            <a:spAutoFit/>
          </a:bodyPr>
          <a:lstStyle/>
          <a:p>
            <a:pPr>
              <a:defRPr sz="1100">
                <a:solidFill>
                  <a:srgbClr val="E8F1F8"/>
                </a:solidFill>
              </a:defRPr>
            </a:pPr>
            <a:r>
              <a:t>Configure theme (Light/Dark/System), default shell, health intervals, load/remove built-in demo apps, export JSON backup.</a:t>
            </a:r>
          </a:p>
          <a:p>
            <a:pPr>
              <a:defRPr sz="1100" b="1">
                <a:solidFill>
                  <a:srgbClr val="8DAFC8"/>
                </a:solidFill>
              </a:defRPr>
            </a:pPr>
            <a:r>
              <a:t>Data Feed: GET/PUT /api/settings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12: API SPECIFICATION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API Reference: REST Endpoints</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645920"/>
          <a:ext cx="10728655" cy="4572000"/>
        </p:xfrm>
        <a:graphic>
          <a:graphicData uri="http://schemas.openxmlformats.org/drawingml/2006/table">
            <a:tbl>
              <a:tblPr firstRow="1" bandRow="1">
                <a:tableStyleId>{5C22544A-7EE6-4342-B048-85BDC9FD1C3A}</a:tableStyleId>
              </a:tblPr>
              <a:tblGrid>
                <a:gridCol w="1371600"/>
                <a:gridCol w="3474720"/>
                <a:gridCol w="4023360"/>
                <a:gridCol w="1858975"/>
              </a:tblGrid>
              <a:tr h="415636">
                <a:tc>
                  <a:txBody>
                    <a:bodyPr/>
                    <a:lstStyle/>
                    <a:p>
                      <a:pPr>
                        <a:defRPr b="1" sz="1100">
                          <a:solidFill>
                            <a:srgbClr val="63B8FF"/>
                          </a:solidFill>
                        </a:defRPr>
                      </a:pPr>
                      <a:r>
                        <a:t>Method</a:t>
                      </a:r>
                    </a:p>
                  </a:txBody>
                  <a:tcPr>
                    <a:solidFill>
                      <a:srgbClr val="153A5C"/>
                    </a:solidFill>
                  </a:tcPr>
                </a:tc>
                <a:tc>
                  <a:txBody>
                    <a:bodyPr/>
                    <a:lstStyle/>
                    <a:p>
                      <a:pPr>
                        <a:defRPr b="1" sz="1100">
                          <a:solidFill>
                            <a:srgbClr val="63B8FF"/>
                          </a:solidFill>
                        </a:defRPr>
                      </a:pPr>
                      <a:r>
                        <a:t>Endpoint Path</a:t>
                      </a:r>
                    </a:p>
                  </a:txBody>
                  <a:tcPr>
                    <a:solidFill>
                      <a:srgbClr val="153A5C"/>
                    </a:solidFill>
                  </a:tcPr>
                </a:tc>
                <a:tc>
                  <a:txBody>
                    <a:bodyPr/>
                    <a:lstStyle/>
                    <a:p>
                      <a:pPr>
                        <a:defRPr b="1" sz="1100">
                          <a:solidFill>
                            <a:srgbClr val="63B8FF"/>
                          </a:solidFill>
                        </a:defRPr>
                      </a:pPr>
                      <a:r>
                        <a:t>Purpose &amp; Action</a:t>
                      </a:r>
                    </a:p>
                  </a:txBody>
                  <a:tcPr>
                    <a:solidFill>
                      <a:srgbClr val="153A5C"/>
                    </a:solidFill>
                  </a:tcPr>
                </a:tc>
                <a:tc>
                  <a:txBody>
                    <a:bodyPr/>
                    <a:lstStyle/>
                    <a:p>
                      <a:pPr>
                        <a:defRPr b="1" sz="1100">
                          <a:solidFill>
                            <a:srgbClr val="63B8FF"/>
                          </a:solidFill>
                        </a:defRPr>
                      </a:pPr>
                      <a:r>
                        <a:t>Called By</a:t>
                      </a:r>
                    </a:p>
                  </a:txBody>
                  <a:tcPr>
                    <a:solidFill>
                      <a:srgbClr val="153A5C"/>
                    </a:solidFill>
                  </a:tcPr>
                </a:tc>
              </a:tr>
              <a:tr h="415636">
                <a:tc>
                  <a:txBody>
                    <a:bodyPr/>
                    <a:lstStyle/>
                    <a:p>
                      <a:pPr>
                        <a:defRPr sz="1000">
                          <a:solidFill>
                            <a:srgbClr val="34D8A5"/>
                          </a:solidFill>
                        </a:defRPr>
                      </a:pPr>
                      <a:r>
                        <a:t>GET</a:t>
                      </a:r>
                    </a:p>
                  </a:txBody>
                  <a:tcPr>
                    <a:solidFill>
                      <a:srgbClr val="0A2036"/>
                    </a:solidFill>
                  </a:tcPr>
                </a:tc>
                <a:tc>
                  <a:txBody>
                    <a:bodyPr/>
                    <a:lstStyle/>
                    <a:p>
                      <a:pPr>
                        <a:defRPr sz="1000">
                          <a:solidFill>
                            <a:srgbClr val="E8F1F8"/>
                          </a:solidFill>
                        </a:defRPr>
                      </a:pPr>
                      <a:r>
                        <a:t>/api/overview</a:t>
                      </a:r>
                    </a:p>
                  </a:txBody>
                  <a:tcPr>
                    <a:solidFill>
                      <a:srgbClr val="0A2036"/>
                    </a:solidFill>
                  </a:tcPr>
                </a:tc>
                <a:tc>
                  <a:txBody>
                    <a:bodyPr/>
                    <a:lstStyle/>
                    <a:p>
                      <a:pPr>
                        <a:defRPr sz="1000">
                          <a:solidFill>
                            <a:srgbClr val="E8F1F8"/>
                          </a:solidFill>
                        </a:defRPr>
                      </a:pPr>
                      <a:r>
                        <a:t>Returns counts, CPU/RAM stats, apps and recent events</a:t>
                      </a:r>
                    </a:p>
                  </a:txBody>
                  <a:tcPr>
                    <a:solidFill>
                      <a:srgbClr val="0A2036"/>
                    </a:solidFill>
                  </a:tcPr>
                </a:tc>
                <a:tc>
                  <a:txBody>
                    <a:bodyPr/>
                    <a:lstStyle/>
                    <a:p>
                      <a:pPr>
                        <a:defRPr sz="1000">
                          <a:solidFill>
                            <a:srgbClr val="E8F1F8"/>
                          </a:solidFill>
                        </a:defRPr>
                      </a:pPr>
                      <a:r>
                        <a:t>Overview page load</a:t>
                      </a:r>
                    </a:p>
                  </a:txBody>
                  <a:tcPr>
                    <a:solidFill>
                      <a:srgbClr val="0A2036"/>
                    </a:solidFill>
                  </a:tcPr>
                </a:tc>
              </a:tr>
              <a:tr h="415636">
                <a:tc>
                  <a:txBody>
                    <a:bodyPr/>
                    <a:lstStyle/>
                    <a:p>
                      <a:pPr>
                        <a:defRPr sz="1000">
                          <a:solidFill>
                            <a:srgbClr val="34D8A5"/>
                          </a:solidFill>
                        </a:defRPr>
                      </a:pPr>
                      <a:r>
                        <a:t>GET / POST</a:t>
                      </a:r>
                    </a:p>
                  </a:txBody>
                  <a:tcPr>
                    <a:solidFill>
                      <a:srgbClr val="0F2D49"/>
                    </a:solidFill>
                  </a:tcPr>
                </a:tc>
                <a:tc>
                  <a:txBody>
                    <a:bodyPr/>
                    <a:lstStyle/>
                    <a:p>
                      <a:pPr>
                        <a:defRPr sz="1000">
                          <a:solidFill>
                            <a:srgbClr val="E8F1F8"/>
                          </a:solidFill>
                        </a:defRPr>
                      </a:pPr>
                      <a:r>
                        <a:t>/api/applications</a:t>
                      </a:r>
                    </a:p>
                  </a:txBody>
                  <a:tcPr>
                    <a:solidFill>
                      <a:srgbClr val="0F2D49"/>
                    </a:solidFill>
                  </a:tcPr>
                </a:tc>
                <a:tc>
                  <a:txBody>
                    <a:bodyPr/>
                    <a:lstStyle/>
                    <a:p>
                      <a:pPr>
                        <a:defRPr sz="1000">
                          <a:solidFill>
                            <a:srgbClr val="E8F1F8"/>
                          </a:solidFill>
                        </a:defRPr>
                      </a:pPr>
                      <a:r>
                        <a:t>List all registered applications or register a new one</a:t>
                      </a:r>
                    </a:p>
                  </a:txBody>
                  <a:tcPr>
                    <a:solidFill>
                      <a:srgbClr val="0F2D49"/>
                    </a:solidFill>
                  </a:tcPr>
                </a:tc>
                <a:tc>
                  <a:txBody>
                    <a:bodyPr/>
                    <a:lstStyle/>
                    <a:p>
                      <a:pPr>
                        <a:defRPr sz="1000">
                          <a:solidFill>
                            <a:srgbClr val="E8F1F8"/>
                          </a:solidFill>
                        </a:defRPr>
                      </a:pPr>
                      <a:r>
                        <a:t>Apps page / Add dialog</a:t>
                      </a:r>
                    </a:p>
                  </a:txBody>
                  <a:tcPr>
                    <a:solidFill>
                      <a:srgbClr val="0F2D49"/>
                    </a:solidFill>
                  </a:tcPr>
                </a:tc>
              </a:tr>
              <a:tr h="415636">
                <a:tc>
                  <a:txBody>
                    <a:bodyPr/>
                    <a:lstStyle/>
                    <a:p>
                      <a:pPr>
                        <a:defRPr sz="1000">
                          <a:solidFill>
                            <a:srgbClr val="FF6B7C"/>
                          </a:solidFill>
                        </a:defRPr>
                      </a:pPr>
                      <a:r>
                        <a:t>DELETE</a:t>
                      </a:r>
                    </a:p>
                  </a:txBody>
                  <a:tcPr>
                    <a:solidFill>
                      <a:srgbClr val="0A2036"/>
                    </a:solidFill>
                  </a:tcPr>
                </a:tc>
                <a:tc>
                  <a:txBody>
                    <a:bodyPr/>
                    <a:lstStyle/>
                    <a:p>
                      <a:pPr>
                        <a:defRPr sz="1000">
                          <a:solidFill>
                            <a:srgbClr val="E8F1F8"/>
                          </a:solidFill>
                        </a:defRPr>
                      </a:pPr>
                      <a:r>
                        <a:t>/api/applications/{id}</a:t>
                      </a:r>
                    </a:p>
                  </a:txBody>
                  <a:tcPr>
                    <a:solidFill>
                      <a:srgbClr val="0A2036"/>
                    </a:solidFill>
                  </a:tcPr>
                </a:tc>
                <a:tc>
                  <a:txBody>
                    <a:bodyPr/>
                    <a:lstStyle/>
                    <a:p>
                      <a:pPr>
                        <a:defRPr sz="1000">
                          <a:solidFill>
                            <a:srgbClr val="E8F1F8"/>
                          </a:solidFill>
                        </a:defRPr>
                      </a:pPr>
                      <a:r>
                        <a:t>Delete app, stop processes, clean up log files</a:t>
                      </a:r>
                    </a:p>
                  </a:txBody>
                  <a:tcPr>
                    <a:solidFill>
                      <a:srgbClr val="0A2036"/>
                    </a:solidFill>
                  </a:tcPr>
                </a:tc>
                <a:tc>
                  <a:txBody>
                    <a:bodyPr/>
                    <a:lstStyle/>
                    <a:p>
                      <a:pPr>
                        <a:defRPr sz="1000">
                          <a:solidFill>
                            <a:srgbClr val="E8F1F8"/>
                          </a:solidFill>
                        </a:defRPr>
                      </a:pPr>
                      <a:r>
                        <a:t>Remove Project button</a:t>
                      </a:r>
                    </a:p>
                  </a:txBody>
                  <a:tcPr>
                    <a:solidFill>
                      <a:srgbClr val="0A2036"/>
                    </a:solidFill>
                  </a:tcPr>
                </a:tc>
              </a:tr>
              <a:tr h="415636">
                <a:tc>
                  <a:txBody>
                    <a:bodyPr/>
                    <a:lstStyle/>
                    <a:p>
                      <a:pPr>
                        <a:defRPr sz="1000">
                          <a:solidFill>
                            <a:srgbClr val="63B8FF"/>
                          </a:solidFill>
                        </a:defRPr>
                      </a:pPr>
                      <a:r>
                        <a:t>POST</a:t>
                      </a:r>
                    </a:p>
                  </a:txBody>
                  <a:tcPr>
                    <a:solidFill>
                      <a:srgbClr val="0F2D49"/>
                    </a:solidFill>
                  </a:tcPr>
                </a:tc>
                <a:tc>
                  <a:txBody>
                    <a:bodyPr/>
                    <a:lstStyle/>
                    <a:p>
                      <a:pPr>
                        <a:defRPr sz="1000">
                          <a:solidFill>
                            <a:srgbClr val="E8F1F8"/>
                          </a:solidFill>
                        </a:defRPr>
                      </a:pPr>
                      <a:r>
                        <a:t>/api/applications/{id}/start</a:t>
                      </a:r>
                    </a:p>
                  </a:txBody>
                  <a:tcPr>
                    <a:solidFill>
                      <a:srgbClr val="0F2D49"/>
                    </a:solidFill>
                  </a:tcPr>
                </a:tc>
                <a:tc>
                  <a:txBody>
                    <a:bodyPr/>
                    <a:lstStyle/>
                    <a:p>
                      <a:pPr>
                        <a:defRPr sz="1000">
                          <a:solidFill>
                            <a:srgbClr val="E8F1F8"/>
                          </a:solidFill>
                        </a:defRPr>
                      </a:pPr>
                      <a:r>
                        <a:t>Start app in safe tier order (DB ➔ API ➔ Web)</a:t>
                      </a:r>
                    </a:p>
                  </a:txBody>
                  <a:tcPr>
                    <a:solidFill>
                      <a:srgbClr val="0F2D49"/>
                    </a:solidFill>
                  </a:tcPr>
                </a:tc>
                <a:tc>
                  <a:txBody>
                    <a:bodyPr/>
                    <a:lstStyle/>
                    <a:p>
                      <a:pPr>
                        <a:defRPr sz="1000">
                          <a:solidFill>
                            <a:srgbClr val="E8F1F8"/>
                          </a:solidFill>
                        </a:defRPr>
                      </a:pPr>
                      <a:r>
                        <a:t>Start app / Start all</a:t>
                      </a:r>
                    </a:p>
                  </a:txBody>
                  <a:tcPr>
                    <a:solidFill>
                      <a:srgbClr val="0F2D49"/>
                    </a:solidFill>
                  </a:tcPr>
                </a:tc>
              </a:tr>
              <a:tr h="415636">
                <a:tc>
                  <a:txBody>
                    <a:bodyPr/>
                    <a:lstStyle/>
                    <a:p>
                      <a:pPr>
                        <a:defRPr sz="1000">
                          <a:solidFill>
                            <a:srgbClr val="63B8FF"/>
                          </a:solidFill>
                        </a:defRPr>
                      </a:pPr>
                      <a:r>
                        <a:t>POST</a:t>
                      </a:r>
                    </a:p>
                  </a:txBody>
                  <a:tcPr>
                    <a:solidFill>
                      <a:srgbClr val="0A2036"/>
                    </a:solidFill>
                  </a:tcPr>
                </a:tc>
                <a:tc>
                  <a:txBody>
                    <a:bodyPr/>
                    <a:lstStyle/>
                    <a:p>
                      <a:pPr>
                        <a:defRPr sz="1000">
                          <a:solidFill>
                            <a:srgbClr val="E8F1F8"/>
                          </a:solidFill>
                        </a:defRPr>
                      </a:pPr>
                      <a:r>
                        <a:t>/api/applications/{id}/stop</a:t>
                      </a:r>
                    </a:p>
                  </a:txBody>
                  <a:tcPr>
                    <a:solidFill>
                      <a:srgbClr val="0A2036"/>
                    </a:solidFill>
                  </a:tcPr>
                </a:tc>
                <a:tc>
                  <a:txBody>
                    <a:bodyPr/>
                    <a:lstStyle/>
                    <a:p>
                      <a:pPr>
                        <a:defRPr sz="1000">
                          <a:solidFill>
                            <a:srgbClr val="E8F1F8"/>
                          </a:solidFill>
                        </a:defRPr>
                      </a:pPr>
                      <a:r>
                        <a:t>Stop app components in reverse tier order</a:t>
                      </a:r>
                    </a:p>
                  </a:txBody>
                  <a:tcPr>
                    <a:solidFill>
                      <a:srgbClr val="0A2036"/>
                    </a:solidFill>
                  </a:tcPr>
                </a:tc>
                <a:tc>
                  <a:txBody>
                    <a:bodyPr/>
                    <a:lstStyle/>
                    <a:p>
                      <a:pPr>
                        <a:defRPr sz="1000">
                          <a:solidFill>
                            <a:srgbClr val="E8F1F8"/>
                          </a:solidFill>
                        </a:defRPr>
                      </a:pPr>
                      <a:r>
                        <a:t>Stop app / Stop all</a:t>
                      </a:r>
                    </a:p>
                  </a:txBody>
                  <a:tcPr>
                    <a:solidFill>
                      <a:srgbClr val="0A2036"/>
                    </a:solidFill>
                  </a:tcPr>
                </a:tc>
              </a:tr>
              <a:tr h="415636">
                <a:tc>
                  <a:txBody>
                    <a:bodyPr/>
                    <a:lstStyle/>
                    <a:p>
                      <a:pPr>
                        <a:defRPr sz="1000">
                          <a:solidFill>
                            <a:srgbClr val="63B8FF"/>
                          </a:solidFill>
                        </a:defRPr>
                      </a:pPr>
                      <a:r>
                        <a:t>POST</a:t>
                      </a:r>
                    </a:p>
                  </a:txBody>
                  <a:tcPr>
                    <a:solidFill>
                      <a:srgbClr val="0F2D49"/>
                    </a:solidFill>
                  </a:tcPr>
                </a:tc>
                <a:tc>
                  <a:txBody>
                    <a:bodyPr/>
                    <a:lstStyle/>
                    <a:p>
                      <a:pPr>
                        <a:defRPr sz="1000">
                          <a:solidFill>
                            <a:srgbClr val="E8F1F8"/>
                          </a:solidFill>
                        </a:defRPr>
                      </a:pPr>
                      <a:r>
                        <a:t>/api/components/{id}/start</a:t>
                      </a:r>
                    </a:p>
                  </a:txBody>
                  <a:tcPr>
                    <a:solidFill>
                      <a:srgbClr val="0F2D49"/>
                    </a:solidFill>
                  </a:tcPr>
                </a:tc>
                <a:tc>
                  <a:txBody>
                    <a:bodyPr/>
                    <a:lstStyle/>
                    <a:p>
                      <a:pPr>
                        <a:defRPr sz="1000">
                          <a:solidFill>
                            <a:srgbClr val="E8F1F8"/>
                          </a:solidFill>
                        </a:defRPr>
                      </a:pPr>
                      <a:r>
                        <a:t>Start a single component process</a:t>
                      </a:r>
                    </a:p>
                  </a:txBody>
                  <a:tcPr>
                    <a:solidFill>
                      <a:srgbClr val="0F2D49"/>
                    </a:solidFill>
                  </a:tcPr>
                </a:tc>
                <a:tc>
                  <a:txBody>
                    <a:bodyPr/>
                    <a:lstStyle/>
                    <a:p>
                      <a:pPr>
                        <a:defRPr sz="1000">
                          <a:solidFill>
                            <a:srgbClr val="E8F1F8"/>
                          </a:solidFill>
                        </a:defRPr>
                      </a:pPr>
                      <a:r>
                        <a:t>PowerSwitch toggle</a:t>
                      </a:r>
                    </a:p>
                  </a:txBody>
                  <a:tcPr>
                    <a:solidFill>
                      <a:srgbClr val="0F2D49"/>
                    </a:solidFill>
                  </a:tcPr>
                </a:tc>
              </a:tr>
              <a:tr h="415636">
                <a:tc>
                  <a:txBody>
                    <a:bodyPr/>
                    <a:lstStyle/>
                    <a:p>
                      <a:pPr>
                        <a:defRPr sz="1000">
                          <a:solidFill>
                            <a:srgbClr val="63B8FF"/>
                          </a:solidFill>
                        </a:defRPr>
                      </a:pPr>
                      <a:r>
                        <a:t>POST</a:t>
                      </a:r>
                    </a:p>
                  </a:txBody>
                  <a:tcPr>
                    <a:solidFill>
                      <a:srgbClr val="0A2036"/>
                    </a:solidFill>
                  </a:tcPr>
                </a:tc>
                <a:tc>
                  <a:txBody>
                    <a:bodyPr/>
                    <a:lstStyle/>
                    <a:p>
                      <a:pPr>
                        <a:defRPr sz="1000">
                          <a:solidFill>
                            <a:srgbClr val="E8F1F8"/>
                          </a:solidFill>
                        </a:defRPr>
                      </a:pPr>
                      <a:r>
                        <a:t>/api/components/{id}/stop</a:t>
                      </a:r>
                    </a:p>
                  </a:txBody>
                  <a:tcPr>
                    <a:solidFill>
                      <a:srgbClr val="0A2036"/>
                    </a:solidFill>
                  </a:tcPr>
                </a:tc>
                <a:tc>
                  <a:txBody>
                    <a:bodyPr/>
                    <a:lstStyle/>
                    <a:p>
                      <a:pPr>
                        <a:defRPr sz="1000">
                          <a:solidFill>
                            <a:srgbClr val="E8F1F8"/>
                          </a:solidFill>
                        </a:defRPr>
                      </a:pPr>
                      <a:r>
                        <a:t>Stop single component process tree</a:t>
                      </a:r>
                    </a:p>
                  </a:txBody>
                  <a:tcPr>
                    <a:solidFill>
                      <a:srgbClr val="0A2036"/>
                    </a:solidFill>
                  </a:tcPr>
                </a:tc>
                <a:tc>
                  <a:txBody>
                    <a:bodyPr/>
                    <a:lstStyle/>
                    <a:p>
                      <a:pPr>
                        <a:defRPr sz="1000">
                          <a:solidFill>
                            <a:srgbClr val="E8F1F8"/>
                          </a:solidFill>
                        </a:defRPr>
                      </a:pPr>
                      <a:r>
                        <a:t>PowerSwitch toggle</a:t>
                      </a:r>
                    </a:p>
                  </a:txBody>
                  <a:tcPr>
                    <a:solidFill>
                      <a:srgbClr val="0A2036"/>
                    </a:solidFill>
                  </a:tcPr>
                </a:tc>
              </a:tr>
              <a:tr h="415636">
                <a:tc>
                  <a:txBody>
                    <a:bodyPr/>
                    <a:lstStyle/>
                    <a:p>
                      <a:pPr>
                        <a:defRPr sz="1000">
                          <a:solidFill>
                            <a:srgbClr val="34D8A5"/>
                          </a:solidFill>
                        </a:defRPr>
                      </a:pPr>
                      <a:r>
                        <a:t>GET</a:t>
                      </a:r>
                    </a:p>
                  </a:txBody>
                  <a:tcPr>
                    <a:solidFill>
                      <a:srgbClr val="0F2D49"/>
                    </a:solidFill>
                  </a:tcPr>
                </a:tc>
                <a:tc>
                  <a:txBody>
                    <a:bodyPr/>
                    <a:lstStyle/>
                    <a:p>
                      <a:pPr>
                        <a:defRPr sz="1000">
                          <a:solidFill>
                            <a:srgbClr val="E8F1F8"/>
                          </a:solidFill>
                        </a:defRPr>
                      </a:pPr>
                      <a:r>
                        <a:t>/api/components/{id}/logs</a:t>
                      </a:r>
                    </a:p>
                  </a:txBody>
                  <a:tcPr>
                    <a:solidFill>
                      <a:srgbClr val="0F2D49"/>
                    </a:solidFill>
                  </a:tcPr>
                </a:tc>
                <a:tc>
                  <a:txBody>
                    <a:bodyPr/>
                    <a:lstStyle/>
                    <a:p>
                      <a:pPr>
                        <a:defRPr sz="1000">
                          <a:solidFill>
                            <a:srgbClr val="E8F1F8"/>
                          </a:solidFill>
                        </a:defRPr>
                      </a:pPr>
                      <a:r>
                        <a:t>Fetch historical log lines from disk</a:t>
                      </a:r>
                    </a:p>
                  </a:txBody>
                  <a:tcPr>
                    <a:solidFill>
                      <a:srgbClr val="0F2D49"/>
                    </a:solidFill>
                  </a:tcPr>
                </a:tc>
                <a:tc>
                  <a:txBody>
                    <a:bodyPr/>
                    <a:lstStyle/>
                    <a:p>
                      <a:pPr>
                        <a:defRPr sz="1000">
                          <a:solidFill>
                            <a:srgbClr val="E8F1F8"/>
                          </a:solidFill>
                        </a:defRPr>
                      </a:pPr>
                      <a:r>
                        <a:t>Logs viewer</a:t>
                      </a:r>
                    </a:p>
                  </a:txBody>
                  <a:tcPr>
                    <a:solidFill>
                      <a:srgbClr val="0F2D49"/>
                    </a:solidFill>
                  </a:tcPr>
                </a:tc>
              </a:tr>
              <a:tr h="415636">
                <a:tc>
                  <a:txBody>
                    <a:bodyPr/>
                    <a:lstStyle/>
                    <a:p>
                      <a:pPr>
                        <a:defRPr sz="1000">
                          <a:solidFill>
                            <a:srgbClr val="34D8A5"/>
                          </a:solidFill>
                        </a:defRPr>
                      </a:pPr>
                      <a:r>
                        <a:t>GET</a:t>
                      </a:r>
                    </a:p>
                  </a:txBody>
                  <a:tcPr>
                    <a:solidFill>
                      <a:srgbClr val="0A2036"/>
                    </a:solidFill>
                  </a:tcPr>
                </a:tc>
                <a:tc>
                  <a:txBody>
                    <a:bodyPr/>
                    <a:lstStyle/>
                    <a:p>
                      <a:pPr>
                        <a:defRPr sz="1000">
                          <a:solidFill>
                            <a:srgbClr val="E8F1F8"/>
                          </a:solidFill>
                        </a:defRPr>
                      </a:pPr>
                      <a:r>
                        <a:t>/api/ports</a:t>
                      </a:r>
                    </a:p>
                  </a:txBody>
                  <a:tcPr>
                    <a:solidFill>
                      <a:srgbClr val="0A2036"/>
                    </a:solidFill>
                  </a:tcPr>
                </a:tc>
                <a:tc>
                  <a:txBody>
                    <a:bodyPr/>
                    <a:lstStyle/>
                    <a:p>
                      <a:pPr>
                        <a:defRPr sz="1000">
                          <a:solidFill>
                            <a:srgbClr val="E8F1F8"/>
                          </a:solidFill>
                        </a:defRPr>
                      </a:pPr>
                      <a:r>
                        <a:t>List active TCP listening sockets and owners</a:t>
                      </a:r>
                    </a:p>
                  </a:txBody>
                  <a:tcPr>
                    <a:solidFill>
                      <a:srgbClr val="0A2036"/>
                    </a:solidFill>
                  </a:tcPr>
                </a:tc>
                <a:tc>
                  <a:txBody>
                    <a:bodyPr/>
                    <a:lstStyle/>
                    <a:p>
                      <a:pPr>
                        <a:defRPr sz="1000">
                          <a:solidFill>
                            <a:srgbClr val="E8F1F8"/>
                          </a:solidFill>
                        </a:defRPr>
                      </a:pPr>
                      <a:r>
                        <a:t>Ports tab</a:t>
                      </a:r>
                    </a:p>
                  </a:txBody>
                  <a:tcPr>
                    <a:solidFill>
                      <a:srgbClr val="0A2036"/>
                    </a:solidFill>
                  </a:tcPr>
                </a:tc>
              </a:tr>
              <a:tr h="415640">
                <a:tc>
                  <a:txBody>
                    <a:bodyPr/>
                    <a:lstStyle/>
                    <a:p>
                      <a:pPr>
                        <a:defRPr sz="1000">
                          <a:solidFill>
                            <a:srgbClr val="63B8FF"/>
                          </a:solidFill>
                        </a:defRPr>
                      </a:pPr>
                      <a:r>
                        <a:t>POST</a:t>
                      </a:r>
                    </a:p>
                  </a:txBody>
                  <a:tcPr>
                    <a:solidFill>
                      <a:srgbClr val="0F2D49"/>
                    </a:solidFill>
                  </a:tcPr>
                </a:tc>
                <a:tc>
                  <a:txBody>
                    <a:bodyPr/>
                    <a:lstStyle/>
                    <a:p>
                      <a:pPr>
                        <a:defRPr sz="1000">
                          <a:solidFill>
                            <a:srgbClr val="E8F1F8"/>
                          </a:solidFill>
                        </a:defRPr>
                      </a:pPr>
                      <a:r>
                        <a:t>/api/ports/{port}/kill</a:t>
                      </a:r>
                    </a:p>
                  </a:txBody>
                  <a:tcPr>
                    <a:solidFill>
                      <a:srgbClr val="0F2D49"/>
                    </a:solidFill>
                  </a:tcPr>
                </a:tc>
                <a:tc>
                  <a:txBody>
                    <a:bodyPr/>
                    <a:lstStyle/>
                    <a:p>
                      <a:pPr>
                        <a:defRPr sz="1000">
                          <a:solidFill>
                            <a:srgbClr val="E8F1F8"/>
                          </a:solidFill>
                        </a:defRPr>
                      </a:pPr>
                      <a:r>
                        <a:t>Force terminate process holding a given port</a:t>
                      </a:r>
                    </a:p>
                  </a:txBody>
                  <a:tcPr>
                    <a:solidFill>
                      <a:srgbClr val="0F2D49"/>
                    </a:solidFill>
                  </a:tcPr>
                </a:tc>
                <a:tc>
                  <a:txBody>
                    <a:bodyPr/>
                    <a:lstStyle/>
                    <a:p>
                      <a:pPr>
                        <a:defRPr sz="1000">
                          <a:solidFill>
                            <a:srgbClr val="E8F1F8"/>
                          </a:solidFill>
                        </a:defRPr>
                      </a:pPr>
                      <a:r>
                        <a:t>Kill port action</a:t>
                      </a:r>
                    </a:p>
                  </a:txBody>
                  <a:tcPr>
                    <a:solidFill>
                      <a:srgbClr val="0F2D4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13: CODE REFERENCE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Function Reference: Core Architecture</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645920"/>
          <a:ext cx="10728655" cy="4572000"/>
        </p:xfrm>
        <a:graphic>
          <a:graphicData uri="http://schemas.openxmlformats.org/drawingml/2006/table">
            <a:tbl>
              <a:tblPr firstRow="1" bandRow="1">
                <a:tableStyleId>{5C22544A-7EE6-4342-B048-85BDC9FD1C3A}</a:tableStyleId>
              </a:tblPr>
              <a:tblGrid>
                <a:gridCol w="2377440"/>
                <a:gridCol w="4114800"/>
                <a:gridCol w="2103120"/>
                <a:gridCol w="2133295"/>
              </a:tblGrid>
              <a:tr h="508000">
                <a:tc>
                  <a:txBody>
                    <a:bodyPr/>
                    <a:lstStyle/>
                    <a:p>
                      <a:pPr>
                        <a:defRPr b="1" sz="1100">
                          <a:solidFill>
                            <a:srgbClr val="63B8FF"/>
                          </a:solidFill>
                        </a:defRPr>
                      </a:pPr>
                      <a:r>
                        <a:t>Component / Function</a:t>
                      </a:r>
                    </a:p>
                  </a:txBody>
                  <a:tcPr>
                    <a:solidFill>
                      <a:srgbClr val="153A5C"/>
                    </a:solidFill>
                  </a:tcPr>
                </a:tc>
                <a:tc>
                  <a:txBody>
                    <a:bodyPr/>
                    <a:lstStyle/>
                    <a:p>
                      <a:pPr>
                        <a:defRPr b="1" sz="1100">
                          <a:solidFill>
                            <a:srgbClr val="63B8FF"/>
                          </a:solidFill>
                        </a:defRPr>
                      </a:pPr>
                      <a:r>
                        <a:t>What It Does in One Sentence</a:t>
                      </a:r>
                    </a:p>
                  </a:txBody>
                  <a:tcPr>
                    <a:solidFill>
                      <a:srgbClr val="153A5C"/>
                    </a:solidFill>
                  </a:tcPr>
                </a:tc>
                <a:tc>
                  <a:txBody>
                    <a:bodyPr/>
                    <a:lstStyle/>
                    <a:p>
                      <a:pPr>
                        <a:defRPr b="1" sz="1100">
                          <a:solidFill>
                            <a:srgbClr val="63B8FF"/>
                          </a:solidFill>
                        </a:defRPr>
                      </a:pPr>
                      <a:r>
                        <a:t>Called By</a:t>
                      </a:r>
                    </a:p>
                  </a:txBody>
                  <a:tcPr>
                    <a:solidFill>
                      <a:srgbClr val="153A5C"/>
                    </a:solidFill>
                  </a:tcPr>
                </a:tc>
                <a:tc>
                  <a:txBody>
                    <a:bodyPr/>
                    <a:lstStyle/>
                    <a:p>
                      <a:pPr>
                        <a:defRPr b="1" sz="1100">
                          <a:solidFill>
                            <a:srgbClr val="63B8FF"/>
                          </a:solidFill>
                        </a:defRPr>
                      </a:pPr>
                      <a:r>
                        <a:t>Calls</a:t>
                      </a:r>
                    </a:p>
                  </a:txBody>
                  <a:tcPr>
                    <a:solidFill>
                      <a:srgbClr val="153A5C"/>
                    </a:solidFill>
                  </a:tcPr>
                </a:tc>
              </a:tr>
              <a:tr h="508000">
                <a:tc>
                  <a:txBody>
                    <a:bodyPr/>
                    <a:lstStyle/>
                    <a:p>
                      <a:pPr>
                        <a:defRPr sz="1000">
                          <a:solidFill>
                            <a:srgbClr val="63B8FF"/>
                          </a:solidFill>
                        </a:defRPr>
                      </a:pPr>
                      <a:r>
                        <a:t>Supervisor.start_component()</a:t>
                      </a:r>
                    </a:p>
                  </a:txBody>
                  <a:tcPr>
                    <a:solidFill>
                      <a:srgbClr val="0A2036"/>
                    </a:solidFill>
                  </a:tcPr>
                </a:tc>
                <a:tc>
                  <a:txBody>
                    <a:bodyPr/>
                    <a:lstStyle/>
                    <a:p>
                      <a:pPr>
                        <a:defRPr sz="1000">
                          <a:solidFill>
                            <a:srgbClr val="E8F1F8"/>
                          </a:solidFill>
                        </a:defRPr>
                      </a:pPr>
                      <a:r>
                        <a:t>Validates cwd, checks ports, spawns process tree, tails log.</a:t>
                      </a:r>
                    </a:p>
                  </a:txBody>
                  <a:tcPr>
                    <a:solidFill>
                      <a:srgbClr val="0A2036"/>
                    </a:solidFill>
                  </a:tcPr>
                </a:tc>
                <a:tc>
                  <a:txBody>
                    <a:bodyPr/>
                    <a:lstStyle/>
                    <a:p>
                      <a:pPr>
                        <a:defRPr sz="1000">
                          <a:solidFill>
                            <a:srgbClr val="E8F1F8"/>
                          </a:solidFill>
                        </a:defRPr>
                      </a:pPr>
                      <a:r>
                        <a:t>api/components.py, orchestrator</a:t>
                      </a:r>
                    </a:p>
                  </a:txBody>
                  <a:tcPr>
                    <a:solidFill>
                      <a:srgbClr val="0A2036"/>
                    </a:solidFill>
                  </a:tcPr>
                </a:tc>
                <a:tc>
                  <a:txBody>
                    <a:bodyPr/>
                    <a:lstStyle/>
                    <a:p>
                      <a:pPr>
                        <a:defRPr sz="1000">
                          <a:solidFill>
                            <a:srgbClr val="E8F1F8"/>
                          </a:solidFill>
                        </a:defRPr>
                      </a:pPr>
                      <a:r>
                        <a:t>spawn_process(), run_health_check()</a:t>
                      </a:r>
                    </a:p>
                  </a:txBody>
                  <a:tcPr>
                    <a:solidFill>
                      <a:srgbClr val="0A2036"/>
                    </a:solidFill>
                  </a:tcPr>
                </a:tc>
              </a:tr>
              <a:tr h="508000">
                <a:tc>
                  <a:txBody>
                    <a:bodyPr/>
                    <a:lstStyle/>
                    <a:p>
                      <a:pPr>
                        <a:defRPr sz="1000">
                          <a:solidFill>
                            <a:srgbClr val="63B8FF"/>
                          </a:solidFill>
                        </a:defRPr>
                      </a:pPr>
                      <a:r>
                        <a:t>Supervisor.stop_component()</a:t>
                      </a:r>
                    </a:p>
                  </a:txBody>
                  <a:tcPr>
                    <a:solidFill>
                      <a:srgbClr val="0F2D49"/>
                    </a:solidFill>
                  </a:tcPr>
                </a:tc>
                <a:tc>
                  <a:txBody>
                    <a:bodyPr/>
                    <a:lstStyle/>
                    <a:p>
                      <a:pPr>
                        <a:defRPr sz="1000">
                          <a:solidFill>
                            <a:srgbClr val="E8F1F8"/>
                          </a:solidFill>
                        </a:defRPr>
                      </a:pPr>
                      <a:r>
                        <a:t>Kills process tree gracefully (SIGTERM) then force kills (taskkill).</a:t>
                      </a:r>
                    </a:p>
                  </a:txBody>
                  <a:tcPr>
                    <a:solidFill>
                      <a:srgbClr val="0F2D49"/>
                    </a:solidFill>
                  </a:tcPr>
                </a:tc>
                <a:tc>
                  <a:txBody>
                    <a:bodyPr/>
                    <a:lstStyle/>
                    <a:p>
                      <a:pPr>
                        <a:defRPr sz="1000">
                          <a:solidFill>
                            <a:srgbClr val="E8F1F8"/>
                          </a:solidFill>
                        </a:defRPr>
                      </a:pPr>
                      <a:r>
                        <a:t>api/components.py, orchestrator</a:t>
                      </a:r>
                    </a:p>
                  </a:txBody>
                  <a:tcPr>
                    <a:solidFill>
                      <a:srgbClr val="0F2D49"/>
                    </a:solidFill>
                  </a:tcPr>
                </a:tc>
                <a:tc>
                  <a:txBody>
                    <a:bodyPr/>
                    <a:lstStyle/>
                    <a:p>
                      <a:pPr>
                        <a:defRPr sz="1000">
                          <a:solidFill>
                            <a:srgbClr val="E8F1F8"/>
                          </a:solidFill>
                        </a:defRPr>
                      </a:pPr>
                      <a:r>
                        <a:t>kill_process_tree(), db updates</a:t>
                      </a:r>
                    </a:p>
                  </a:txBody>
                  <a:tcPr>
                    <a:solidFill>
                      <a:srgbClr val="0F2D49"/>
                    </a:solidFill>
                  </a:tcPr>
                </a:tc>
              </a:tr>
              <a:tr h="508000">
                <a:tc>
                  <a:txBody>
                    <a:bodyPr/>
                    <a:lstStyle/>
                    <a:p>
                      <a:pPr>
                        <a:defRPr sz="1000">
                          <a:solidFill>
                            <a:srgbClr val="63B8FF"/>
                          </a:solidFill>
                        </a:defRPr>
                      </a:pPr>
                      <a:r>
                        <a:t>Supervisor.remove_tracked()</a:t>
                      </a:r>
                    </a:p>
                  </a:txBody>
                  <a:tcPr>
                    <a:solidFill>
                      <a:srgbClr val="0A2036"/>
                    </a:solidFill>
                  </a:tcPr>
                </a:tc>
                <a:tc>
                  <a:txBody>
                    <a:bodyPr/>
                    <a:lstStyle/>
                    <a:p>
                      <a:pPr>
                        <a:defRPr sz="1000">
                          <a:solidFill>
                            <a:srgbClr val="E8F1F8"/>
                          </a:solidFill>
                        </a:defRPr>
                      </a:pPr>
                      <a:r>
                        <a:t>Removes in-memory tracking entry when an app is deleted.</a:t>
                      </a:r>
                    </a:p>
                  </a:txBody>
                  <a:tcPr>
                    <a:solidFill>
                      <a:srgbClr val="0A2036"/>
                    </a:solidFill>
                  </a:tcPr>
                </a:tc>
                <a:tc>
                  <a:txBody>
                    <a:bodyPr/>
                    <a:lstStyle/>
                    <a:p>
                      <a:pPr>
                        <a:defRPr sz="1000">
                          <a:solidFill>
                            <a:srgbClr val="E8F1F8"/>
                          </a:solidFill>
                        </a:defRPr>
                      </a:pPr>
                      <a:r>
                        <a:t>api/applications.py</a:t>
                      </a:r>
                    </a:p>
                  </a:txBody>
                  <a:tcPr>
                    <a:solidFill>
                      <a:srgbClr val="0A2036"/>
                    </a:solidFill>
                  </a:tcPr>
                </a:tc>
                <a:tc>
                  <a:txBody>
                    <a:bodyPr/>
                    <a:lstStyle/>
                    <a:p>
                      <a:pPr>
                        <a:defRPr sz="1000">
                          <a:solidFill>
                            <a:srgbClr val="E8F1F8"/>
                          </a:solidFill>
                        </a:defRPr>
                      </a:pPr>
                      <a:r>
                        <a:t>self.components.pop()</a:t>
                      </a:r>
                    </a:p>
                  </a:txBody>
                  <a:tcPr>
                    <a:solidFill>
                      <a:srgbClr val="0A2036"/>
                    </a:solidFill>
                  </a:tcPr>
                </a:tc>
              </a:tr>
              <a:tr h="508000">
                <a:tc>
                  <a:txBody>
                    <a:bodyPr/>
                    <a:lstStyle/>
                    <a:p>
                      <a:pPr>
                        <a:defRPr sz="1000">
                          <a:solidFill>
                            <a:srgbClr val="63B8FF"/>
                          </a:solidFill>
                        </a:defRPr>
                      </a:pPr>
                      <a:r>
                        <a:t>Orchestrator.start_application()</a:t>
                      </a:r>
                    </a:p>
                  </a:txBody>
                  <a:tcPr>
                    <a:solidFill>
                      <a:srgbClr val="0F2D49"/>
                    </a:solidFill>
                  </a:tcPr>
                </a:tc>
                <a:tc>
                  <a:txBody>
                    <a:bodyPr/>
                    <a:lstStyle/>
                    <a:p>
                      <a:pPr>
                        <a:defRPr sz="1000">
                          <a:solidFill>
                            <a:srgbClr val="E8F1F8"/>
                          </a:solidFill>
                        </a:defRPr>
                      </a:pPr>
                      <a:r>
                        <a:t>Executes multi-step ordered startup across component tiers.</a:t>
                      </a:r>
                    </a:p>
                  </a:txBody>
                  <a:tcPr>
                    <a:solidFill>
                      <a:srgbClr val="0F2D49"/>
                    </a:solidFill>
                  </a:tcPr>
                </a:tc>
                <a:tc>
                  <a:txBody>
                    <a:bodyPr/>
                    <a:lstStyle/>
                    <a:p>
                      <a:pPr>
                        <a:defRPr sz="1000">
                          <a:solidFill>
                            <a:srgbClr val="E8F1F8"/>
                          </a:solidFill>
                        </a:defRPr>
                      </a:pPr>
                      <a:r>
                        <a:t>api/applications.py</a:t>
                      </a:r>
                    </a:p>
                  </a:txBody>
                  <a:tcPr>
                    <a:solidFill>
                      <a:srgbClr val="0F2D49"/>
                    </a:solidFill>
                  </a:tcPr>
                </a:tc>
                <a:tc>
                  <a:txBody>
                    <a:bodyPr/>
                    <a:lstStyle/>
                    <a:p>
                      <a:pPr>
                        <a:defRPr sz="1000">
                          <a:solidFill>
                            <a:srgbClr val="E8F1F8"/>
                          </a:solidFill>
                        </a:defRPr>
                      </a:pPr>
                      <a:r>
                        <a:t>supervisor.start_component()</a:t>
                      </a:r>
                    </a:p>
                  </a:txBody>
                  <a:tcPr>
                    <a:solidFill>
                      <a:srgbClr val="0F2D49"/>
                    </a:solidFill>
                  </a:tcPr>
                </a:tc>
              </a:tr>
              <a:tr h="508000">
                <a:tc>
                  <a:txBody>
                    <a:bodyPr/>
                    <a:lstStyle/>
                    <a:p>
                      <a:pPr>
                        <a:defRPr sz="1000">
                          <a:solidFill>
                            <a:srgbClr val="63B8FF"/>
                          </a:solidFill>
                        </a:defRPr>
                      </a:pPr>
                      <a:r>
                        <a:t>run_health_check()</a:t>
                      </a:r>
                    </a:p>
                  </a:txBody>
                  <a:tcPr>
                    <a:solidFill>
                      <a:srgbClr val="0A2036"/>
                    </a:solidFill>
                  </a:tcPr>
                </a:tc>
                <a:tc>
                  <a:txBody>
                    <a:bodyPr/>
                    <a:lstStyle/>
                    <a:p>
                      <a:pPr>
                        <a:defRPr sz="1000">
                          <a:solidFill>
                            <a:srgbClr val="E8F1F8"/>
                          </a:solidFill>
                        </a:defRPr>
                      </a:pPr>
                      <a:r>
                        <a:t>Probes TCP port, HTTP endpoint, process PID, or SQLite file.</a:t>
                      </a:r>
                    </a:p>
                  </a:txBody>
                  <a:tcPr>
                    <a:solidFill>
                      <a:srgbClr val="0A2036"/>
                    </a:solidFill>
                  </a:tcPr>
                </a:tc>
                <a:tc>
                  <a:txBody>
                    <a:bodyPr/>
                    <a:lstStyle/>
                    <a:p>
                      <a:pPr>
                        <a:defRPr sz="1000">
                          <a:solidFill>
                            <a:srgbClr val="E8F1F8"/>
                          </a:solidFill>
                        </a:defRPr>
                      </a:pPr>
                      <a:r>
                        <a:t>supervisor monitor loop</a:t>
                      </a:r>
                    </a:p>
                  </a:txBody>
                  <a:tcPr>
                    <a:solidFill>
                      <a:srgbClr val="0A2036"/>
                    </a:solidFill>
                  </a:tcPr>
                </a:tc>
                <a:tc>
                  <a:txBody>
                    <a:bodyPr/>
                    <a:lstStyle/>
                    <a:p>
                      <a:pPr>
                        <a:defRPr sz="1000">
                          <a:solidFill>
                            <a:srgbClr val="E8F1F8"/>
                          </a:solidFill>
                        </a:defRPr>
                      </a:pPr>
                      <a:r>
                        <a:t>asyncio.open_connection, httpx</a:t>
                      </a:r>
                    </a:p>
                  </a:txBody>
                  <a:tcPr>
                    <a:solidFill>
                      <a:srgbClr val="0A2036"/>
                    </a:solidFill>
                  </a:tcPr>
                </a:tc>
              </a:tr>
              <a:tr h="508000">
                <a:tc>
                  <a:txBody>
                    <a:bodyPr/>
                    <a:lstStyle/>
                    <a:p>
                      <a:pPr>
                        <a:defRPr sz="1000">
                          <a:solidFill>
                            <a:srgbClr val="63B8FF"/>
                          </a:solidFill>
                        </a:defRPr>
                      </a:pPr>
                      <a:r>
                        <a:t>ComponentLogTailer.run()</a:t>
                      </a:r>
                    </a:p>
                  </a:txBody>
                  <a:tcPr>
                    <a:solidFill>
                      <a:srgbClr val="0F2D49"/>
                    </a:solidFill>
                  </a:tcPr>
                </a:tc>
                <a:tc>
                  <a:txBody>
                    <a:bodyPr/>
                    <a:lstStyle/>
                    <a:p>
                      <a:pPr>
                        <a:defRPr sz="1000">
                          <a:solidFill>
                            <a:srgbClr val="E8F1F8"/>
                          </a:solidFill>
                        </a:defRPr>
                      </a:pPr>
                      <a:r>
                        <a:t>Polls disk log file every 200ms and pushes new lines to WebSocket.</a:t>
                      </a:r>
                    </a:p>
                  </a:txBody>
                  <a:tcPr>
                    <a:solidFill>
                      <a:srgbClr val="0F2D49"/>
                    </a:solidFill>
                  </a:tcPr>
                </a:tc>
                <a:tc>
                  <a:txBody>
                    <a:bodyPr/>
                    <a:lstStyle/>
                    <a:p>
                      <a:pPr>
                        <a:defRPr sz="1000">
                          <a:solidFill>
                            <a:srgbClr val="E8F1F8"/>
                          </a:solidFill>
                        </a:defRPr>
                      </a:pPr>
                      <a:r>
                        <a:t>supervisor background task</a:t>
                      </a:r>
                    </a:p>
                  </a:txBody>
                  <a:tcPr>
                    <a:solidFill>
                      <a:srgbClr val="0F2D49"/>
                    </a:solidFill>
                  </a:tcPr>
                </a:tc>
                <a:tc>
                  <a:txBody>
                    <a:bodyPr/>
                    <a:lstStyle/>
                    <a:p>
                      <a:pPr>
                        <a:defRPr sz="1000">
                          <a:solidFill>
                            <a:srgbClr val="E8F1F8"/>
                          </a:solidFill>
                        </a:defRPr>
                      </a:pPr>
                      <a:r>
                        <a:t>bus.publish()</a:t>
                      </a:r>
                    </a:p>
                  </a:txBody>
                  <a:tcPr>
                    <a:solidFill>
                      <a:srgbClr val="0F2D49"/>
                    </a:solidFill>
                  </a:tcPr>
                </a:tc>
              </a:tr>
              <a:tr h="508000">
                <a:tc>
                  <a:txBody>
                    <a:bodyPr/>
                    <a:lstStyle/>
                    <a:p>
                      <a:pPr>
                        <a:defRPr sz="1000">
                          <a:solidFill>
                            <a:srgbClr val="63B8FF"/>
                          </a:solidFill>
                        </a:defRPr>
                      </a:pPr>
                      <a:r>
                        <a:t>HangarDashboard()</a:t>
                      </a:r>
                    </a:p>
                  </a:txBody>
                  <a:tcPr>
                    <a:solidFill>
                      <a:srgbClr val="0A2036"/>
                    </a:solidFill>
                  </a:tcPr>
                </a:tc>
                <a:tc>
                  <a:txBody>
                    <a:bodyPr/>
                    <a:lstStyle/>
                    <a:p>
                      <a:pPr>
                        <a:defRPr sz="1000">
                          <a:solidFill>
                            <a:srgbClr val="E8F1F8"/>
                          </a:solidFill>
                        </a:defRPr>
                      </a:pPr>
                      <a:r>
                        <a:t>Main React dashboard component managing tabs, forms, and dialogs.</a:t>
                      </a:r>
                    </a:p>
                  </a:txBody>
                  <a:tcPr>
                    <a:solidFill>
                      <a:srgbClr val="0A2036"/>
                    </a:solidFill>
                  </a:tcPr>
                </a:tc>
                <a:tc>
                  <a:txBody>
                    <a:bodyPr/>
                    <a:lstStyle/>
                    <a:p>
                      <a:pPr>
                        <a:defRPr sz="1000">
                          <a:solidFill>
                            <a:srgbClr val="E8F1F8"/>
                          </a:solidFill>
                        </a:defRPr>
                      </a:pPr>
                      <a:r>
                        <a:t>src/app/page.tsx</a:t>
                      </a:r>
                    </a:p>
                  </a:txBody>
                  <a:tcPr>
                    <a:solidFill>
                      <a:srgbClr val="0A2036"/>
                    </a:solidFill>
                  </a:tcPr>
                </a:tc>
                <a:tc>
                  <a:txBody>
                    <a:bodyPr/>
                    <a:lstStyle/>
                    <a:p>
                      <a:pPr>
                        <a:defRPr sz="1000">
                          <a:solidFill>
                            <a:srgbClr val="E8F1F8"/>
                          </a:solidFill>
                        </a:defRPr>
                      </a:pPr>
                      <a:r>
                        <a:t>lib/api.ts, lib/ws.ts</a:t>
                      </a:r>
                    </a:p>
                  </a:txBody>
                  <a:tcPr>
                    <a:solidFill>
                      <a:srgbClr val="0A2036"/>
                    </a:solidFill>
                  </a:tcPr>
                </a:tc>
              </a:tr>
              <a:tr h="508000">
                <a:tc>
                  <a:txBody>
                    <a:bodyPr/>
                    <a:lstStyle/>
                    <a:p>
                      <a:pPr>
                        <a:defRPr sz="1000">
                          <a:solidFill>
                            <a:srgbClr val="63B8FF"/>
                          </a:solidFill>
                        </a:defRPr>
                      </a:pPr>
                      <a:r>
                        <a:t>handleRemoveApplication()</a:t>
                      </a:r>
                    </a:p>
                  </a:txBody>
                  <a:tcPr>
                    <a:solidFill>
                      <a:srgbClr val="0F2D49"/>
                    </a:solidFill>
                  </a:tcPr>
                </a:tc>
                <a:tc>
                  <a:txBody>
                    <a:bodyPr/>
                    <a:lstStyle/>
                    <a:p>
                      <a:pPr>
                        <a:defRPr sz="1000">
                          <a:solidFill>
                            <a:srgbClr val="E8F1F8"/>
                          </a:solidFill>
                        </a:defRPr>
                      </a:pPr>
                      <a:r>
                        <a:t>Frontend handler sending DELETE request with confirmation state.</a:t>
                      </a:r>
                    </a:p>
                  </a:txBody>
                  <a:tcPr>
                    <a:solidFill>
                      <a:srgbClr val="0F2D49"/>
                    </a:solidFill>
                  </a:tcPr>
                </a:tc>
                <a:tc>
                  <a:txBody>
                    <a:bodyPr/>
                    <a:lstStyle/>
                    <a:p>
                      <a:pPr>
                        <a:defRPr sz="1000">
                          <a:solidFill>
                            <a:srgbClr val="E8F1F8"/>
                          </a:solidFill>
                        </a:defRPr>
                      </a:pPr>
                      <a:r>
                        <a:t>Remove button in UI</a:t>
                      </a:r>
                    </a:p>
                  </a:txBody>
                  <a:tcPr>
                    <a:solidFill>
                      <a:srgbClr val="0F2D49"/>
                    </a:solidFill>
                  </a:tcPr>
                </a:tc>
                <a:tc>
                  <a:txBody>
                    <a:bodyPr/>
                    <a:lstStyle/>
                    <a:p>
                      <a:pPr>
                        <a:defRPr sz="1000">
                          <a:solidFill>
                            <a:srgbClr val="E8F1F8"/>
                          </a:solidFill>
                        </a:defRPr>
                      </a:pPr>
                      <a:r>
                        <a:t>api.deleteApplication(), loadDashboard()</a:t>
                      </a:r>
                    </a:p>
                  </a:txBody>
                  <a:tcPr>
                    <a:solidFill>
                      <a:srgbClr val="0F2D4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14: SEQUENCE WALKTHROUGH</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Full Example: 'I Click Start on a Project'</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621792"/>
          </a:xfrm>
          <a:prstGeom prst="roundRect">
            <a:avLst/>
          </a:prstGeom>
          <a:solidFill>
            <a:srgbClr val="0F2D49"/>
          </a:solidFill>
          <a:ln w="19050">
            <a:solidFill>
              <a:srgbClr val="63B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0332720" cy="502920"/>
          </a:xfrm>
          <a:prstGeom prst="rect">
            <a:avLst/>
          </a:prstGeom>
          <a:noFill/>
        </p:spPr>
        <p:txBody>
          <a:bodyPr wrap="square">
            <a:spAutoFit/>
          </a:bodyPr>
          <a:lstStyle/>
          <a:p>
            <a:pPr>
              <a:defRPr b="1" sz="1200">
                <a:solidFill>
                  <a:srgbClr val="63B8FF"/>
                </a:solidFill>
              </a:defRPr>
            </a:pPr>
            <a:r>
              <a:t>1. User Click:  </a:t>
            </a:r>
            <a:r>
              <a:rPr b="0" sz="1100">
                <a:solidFill>
                  <a:srgbClr val="E8F1F8"/>
                </a:solidFill>
              </a:rPr>
              <a:t>User flips PowerSwitch or clicks 'Start app'. Frontend enters loading state; sends POST /api/applications/{id}/start.</a:t>
            </a:r>
          </a:p>
        </p:txBody>
      </p:sp>
      <p:sp>
        <p:nvSpPr>
          <p:cNvPr id="8" name="Rounded Rectangle 7"/>
          <p:cNvSpPr/>
          <p:nvPr/>
        </p:nvSpPr>
        <p:spPr>
          <a:xfrm>
            <a:off x="731520" y="2331720"/>
            <a:ext cx="10728655" cy="621792"/>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86584"/>
            <a:ext cx="10332720" cy="502920"/>
          </a:xfrm>
          <a:prstGeom prst="rect">
            <a:avLst/>
          </a:prstGeom>
          <a:noFill/>
        </p:spPr>
        <p:txBody>
          <a:bodyPr wrap="square">
            <a:spAutoFit/>
          </a:bodyPr>
          <a:lstStyle/>
          <a:p>
            <a:pPr>
              <a:defRPr b="1" sz="1200">
                <a:solidFill>
                  <a:srgbClr val="63B8FF"/>
                </a:solidFill>
              </a:defRPr>
            </a:pPr>
            <a:r>
              <a:t>2. Lock &amp; Sequence:  </a:t>
            </a:r>
            <a:r>
              <a:rPr b="0" sz="1100">
                <a:solidFill>
                  <a:srgbClr val="E8F1F8"/>
                </a:solidFill>
              </a:rPr>
              <a:t>FastAPI orchestrator acquires app lock, fetches components, and sorts them by tier (Database 1, Backend 2, Frontend 3).</a:t>
            </a:r>
          </a:p>
        </p:txBody>
      </p:sp>
      <p:sp>
        <p:nvSpPr>
          <p:cNvPr id="10" name="Rounded Rectangle 9"/>
          <p:cNvSpPr/>
          <p:nvPr/>
        </p:nvSpPr>
        <p:spPr>
          <a:xfrm>
            <a:off x="731520" y="3017520"/>
            <a:ext cx="10728655" cy="621792"/>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72384"/>
            <a:ext cx="10332720" cy="502920"/>
          </a:xfrm>
          <a:prstGeom prst="rect">
            <a:avLst/>
          </a:prstGeom>
          <a:noFill/>
        </p:spPr>
        <p:txBody>
          <a:bodyPr wrap="square">
            <a:spAutoFit/>
          </a:bodyPr>
          <a:lstStyle/>
          <a:p>
            <a:pPr>
              <a:defRPr b="1" sz="1200">
                <a:solidFill>
                  <a:srgbClr val="63B8FF"/>
                </a:solidFill>
              </a:defRPr>
            </a:pPr>
            <a:r>
              <a:t>3. Port Conflict Check:  </a:t>
            </a:r>
            <a:r>
              <a:rPr b="0" sz="1100">
                <a:solidFill>
                  <a:srgbClr val="E8F1F8"/>
                </a:solidFill>
              </a:rPr>
              <a:t>Supervisor checks if component declared port (e.g. :4102) is in use. If free, proceeds to spawn.</a:t>
            </a:r>
          </a:p>
        </p:txBody>
      </p:sp>
      <p:sp>
        <p:nvSpPr>
          <p:cNvPr id="12" name="Rounded Rectangle 11"/>
          <p:cNvSpPr/>
          <p:nvPr/>
        </p:nvSpPr>
        <p:spPr>
          <a:xfrm>
            <a:off x="731520" y="3703320"/>
            <a:ext cx="10728655" cy="621792"/>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758184"/>
            <a:ext cx="10332720" cy="502920"/>
          </a:xfrm>
          <a:prstGeom prst="rect">
            <a:avLst/>
          </a:prstGeom>
          <a:noFill/>
        </p:spPr>
        <p:txBody>
          <a:bodyPr wrap="square">
            <a:spAutoFit/>
          </a:bodyPr>
          <a:lstStyle/>
          <a:p>
            <a:pPr>
              <a:defRPr b="1" sz="1200">
                <a:solidFill>
                  <a:srgbClr val="63B8FF"/>
                </a:solidFill>
              </a:defRPr>
            </a:pPr>
            <a:r>
              <a:t>4. Process Tree Spawn:  </a:t>
            </a:r>
            <a:r>
              <a:rPr b="0" sz="1100">
                <a:solidFill>
                  <a:srgbClr val="E8F1F8"/>
                </a:solidFill>
              </a:rPr>
              <a:t>Supervisor spawns process using platform shell (cmd.exe on Windows, /bin/sh on POSIX) with output directed to run-&lt;id&gt;.log.</a:t>
            </a:r>
          </a:p>
        </p:txBody>
      </p:sp>
      <p:sp>
        <p:nvSpPr>
          <p:cNvPr id="14" name="Rounded Rectangle 13"/>
          <p:cNvSpPr/>
          <p:nvPr/>
        </p:nvSpPr>
        <p:spPr>
          <a:xfrm>
            <a:off x="731520" y="4389120"/>
            <a:ext cx="10728655" cy="621792"/>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43984"/>
            <a:ext cx="10332720" cy="502920"/>
          </a:xfrm>
          <a:prstGeom prst="rect">
            <a:avLst/>
          </a:prstGeom>
          <a:noFill/>
        </p:spPr>
        <p:txBody>
          <a:bodyPr wrap="square">
            <a:spAutoFit/>
          </a:bodyPr>
          <a:lstStyle/>
          <a:p>
            <a:pPr>
              <a:defRPr b="1" sz="1200">
                <a:solidFill>
                  <a:srgbClr val="63B8FF"/>
                </a:solidFill>
              </a:defRPr>
            </a:pPr>
            <a:r>
              <a:t>5. Log Tailer Attach:  </a:t>
            </a:r>
            <a:r>
              <a:rPr b="0" sz="1100">
                <a:solidFill>
                  <a:srgbClr val="E8F1F8"/>
                </a:solidFill>
              </a:rPr>
              <a:t>Supervisor starts ComponentLogTailer to stream lines from the new log file over the WebSocket bus.</a:t>
            </a:r>
          </a:p>
        </p:txBody>
      </p:sp>
      <p:sp>
        <p:nvSpPr>
          <p:cNvPr id="16" name="Rounded Rectangle 15"/>
          <p:cNvSpPr/>
          <p:nvPr/>
        </p:nvSpPr>
        <p:spPr>
          <a:xfrm>
            <a:off x="731520" y="5074920"/>
            <a:ext cx="10728655" cy="621792"/>
          </a:xfrm>
          <a:prstGeom prst="roundRect">
            <a:avLst/>
          </a:prstGeom>
          <a:solidFill>
            <a:srgbClr val="0F2D49"/>
          </a:solidFill>
          <a:ln w="19050">
            <a:solidFill>
              <a:srgbClr val="2753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129784"/>
            <a:ext cx="10332720" cy="502920"/>
          </a:xfrm>
          <a:prstGeom prst="rect">
            <a:avLst/>
          </a:prstGeom>
          <a:noFill/>
        </p:spPr>
        <p:txBody>
          <a:bodyPr wrap="square">
            <a:spAutoFit/>
          </a:bodyPr>
          <a:lstStyle/>
          <a:p>
            <a:pPr>
              <a:defRPr b="1" sz="1200">
                <a:solidFill>
                  <a:srgbClr val="63B8FF"/>
                </a:solidFill>
              </a:defRPr>
            </a:pPr>
            <a:r>
              <a:t>6. Health Probing:  </a:t>
            </a:r>
            <a:r>
              <a:rPr b="0" sz="1100">
                <a:solidFill>
                  <a:srgbClr val="E8F1F8"/>
                </a:solidFill>
              </a:rPr>
              <a:t>Component status becomes 'starting' (pulsing blue lamp). Health checker probes TCP/HTTP every 500ms.</a:t>
            </a:r>
          </a:p>
        </p:txBody>
      </p:sp>
      <p:sp>
        <p:nvSpPr>
          <p:cNvPr id="18" name="Rounded Rectangle 17"/>
          <p:cNvSpPr/>
          <p:nvPr/>
        </p:nvSpPr>
        <p:spPr>
          <a:xfrm>
            <a:off x="731520" y="5760720"/>
            <a:ext cx="10728655" cy="621792"/>
          </a:xfrm>
          <a:prstGeom prst="roundRect">
            <a:avLst/>
          </a:prstGeom>
          <a:solidFill>
            <a:srgbClr val="0F2D49"/>
          </a:solidFill>
          <a:ln w="19050">
            <a:solidFill>
              <a:srgbClr val="34D8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815584"/>
            <a:ext cx="10332720" cy="502920"/>
          </a:xfrm>
          <a:prstGeom prst="rect">
            <a:avLst/>
          </a:prstGeom>
          <a:noFill/>
        </p:spPr>
        <p:txBody>
          <a:bodyPr wrap="square">
            <a:spAutoFit/>
          </a:bodyPr>
          <a:lstStyle/>
          <a:p>
            <a:pPr>
              <a:defRPr b="1" sz="1200">
                <a:solidFill>
                  <a:srgbClr val="34D8A5"/>
                </a:solidFill>
              </a:defRPr>
            </a:pPr>
            <a:r>
              <a:t>7. Green Lamp Active!:  </a:t>
            </a:r>
            <a:r>
              <a:rPr b="0" sz="1100">
                <a:solidFill>
                  <a:srgbClr val="E8F1F8"/>
                </a:solidFill>
              </a:rPr>
              <a:t>Health probe returns 200 OK! Component status switches to 'running' (bright green glowing lamp) and WebSocket notifies UI.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15: NEW FEATURE</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The Remove Project Feature (Part 3)</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4572000"/>
          </a:xfrm>
          <a:prstGeom prst="roundRect">
            <a:avLst/>
          </a:prstGeom>
          <a:solidFill>
            <a:srgbClr val="0F2D49"/>
          </a:solidFill>
          <a:ln w="19050">
            <a:solidFill>
              <a:srgbClr val="FF6B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365760"/>
          </a:xfrm>
          <a:prstGeom prst="rect">
            <a:avLst/>
          </a:prstGeom>
          <a:noFill/>
        </p:spPr>
        <p:txBody>
          <a:bodyPr wrap="none">
            <a:spAutoFit/>
          </a:bodyPr>
          <a:lstStyle/>
          <a:p>
            <a:pPr>
              <a:defRPr sz="1500" b="1">
                <a:solidFill>
                  <a:srgbClr val="63B8FF"/>
                </a:solidFill>
              </a:defRPr>
            </a:pPr>
            <a:r>
              <a:t>How the Remove Feature Works</a:t>
            </a:r>
          </a:p>
        </p:txBody>
      </p:sp>
      <p:sp>
        <p:nvSpPr>
          <p:cNvPr id="8" name="TextBox 7"/>
          <p:cNvSpPr txBox="1"/>
          <p:nvPr/>
        </p:nvSpPr>
        <p:spPr>
          <a:xfrm>
            <a:off x="914400" y="2194560"/>
            <a:ext cx="4754880" cy="3840480"/>
          </a:xfrm>
          <a:prstGeom prst="rect">
            <a:avLst/>
          </a:prstGeom>
          <a:noFill/>
        </p:spPr>
        <p:txBody>
          <a:bodyPr wrap="square">
            <a:spAutoFit/>
          </a:bodyPr>
          <a:lstStyle/>
          <a:p>
            <a:pPr>
              <a:spcAft>
                <a:spcPts val="1000"/>
              </a:spcAft>
              <a:defRPr sz="1300">
                <a:solidFill>
                  <a:srgbClr val="E8F1F8"/>
                </a:solidFill>
              </a:defRPr>
            </a:pPr>
            <a:r>
              <a:t>•  Dedicated Remove Button: Each project card on Overview and Applications tabs now has a red trashcan 'Remove' button.</a:t>
            </a:r>
          </a:p>
          <a:p>
            <a:pPr>
              <a:spcAft>
                <a:spcPts val="1000"/>
              </a:spcAft>
              <a:defRPr sz="1300">
                <a:solidFill>
                  <a:srgbClr val="E8F1F8"/>
                </a:solidFill>
              </a:defRPr>
            </a:pPr>
            <a:r>
              <a:t>•  Safety Modal Dialog: Clicking Remove opens a confirmation dialog showing the exact application name and a clear warning.</a:t>
            </a:r>
          </a:p>
          <a:p>
            <a:pPr>
              <a:spcAft>
                <a:spcPts val="1000"/>
              </a:spcAft>
              <a:defRPr sz="1300">
                <a:solidFill>
                  <a:srgbClr val="E8F1F8"/>
                </a:solidFill>
              </a:defRPr>
            </a:pPr>
            <a:r>
              <a:t>•  Stop Running Processes Checkbox: If services are active, a checked-by-default checkbox offers to safely terminate running processes first.</a:t>
            </a:r>
          </a:p>
          <a:p>
            <a:pPr>
              <a:spcAft>
                <a:spcPts val="1000"/>
              </a:spcAft>
              <a:defRPr sz="1300">
                <a:solidFill>
                  <a:srgbClr val="E8F1F8"/>
                </a:solidFill>
              </a:defRPr>
            </a:pPr>
            <a:r>
              <a:t>•  Zero File Destruction Guarantee: Hangar NEVER touches or deletes your project folder, source code, git repository, or local files.</a:t>
            </a:r>
          </a:p>
          <a:p>
            <a:pPr>
              <a:spcAft>
                <a:spcPts val="1000"/>
              </a:spcAft>
              <a:defRPr sz="1300">
                <a:solidFill>
                  <a:srgbClr val="E8F1F8"/>
                </a:solidFill>
              </a:defRPr>
            </a:pPr>
            <a:r>
              <a:t>•  Clean Database &amp; Log Deletion: Deletes the registration from SQLite, cleans up internal supervisor tracking, and deletes old run log files.</a:t>
            </a:r>
          </a:p>
          <a:p>
            <a:pPr>
              <a:spcAft>
                <a:spcPts val="1000"/>
              </a:spcAft>
              <a:defRPr sz="1300">
                <a:solidFill>
                  <a:srgbClr val="E8F1F8"/>
                </a:solidFill>
              </a:defRPr>
            </a:pPr>
            <a:r>
              <a:t>•  Spinner &amp; Disable Protection: Buttons are disabled during the request to prevent double-click race conditions.</a:t>
            </a:r>
          </a:p>
        </p:txBody>
      </p:sp>
      <p:sp>
        <p:nvSpPr>
          <p:cNvPr id="9" name="Rounded Rectangle 8"/>
          <p:cNvSpPr/>
          <p:nvPr/>
        </p:nvSpPr>
        <p:spPr>
          <a:xfrm>
            <a:off x="6309360" y="1645920"/>
            <a:ext cx="5120640" cy="4572000"/>
          </a:xfrm>
          <a:prstGeom prst="roundRect">
            <a:avLst/>
          </a:prstGeom>
          <a:solidFill>
            <a:srgbClr val="0F2D49"/>
          </a:solidFill>
          <a:ln w="19050">
            <a:solidFill>
              <a:srgbClr val="63B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365760"/>
          </a:xfrm>
          <a:prstGeom prst="rect">
            <a:avLst/>
          </a:prstGeom>
          <a:noFill/>
        </p:spPr>
        <p:txBody>
          <a:bodyPr wrap="none">
            <a:spAutoFit/>
          </a:bodyPr>
          <a:lstStyle/>
          <a:p>
            <a:pPr>
              <a:defRPr sz="1500" b="1">
                <a:solidFill>
                  <a:srgbClr val="63B8FF"/>
                </a:solidFill>
              </a:defRPr>
            </a:pPr>
            <a:r>
              <a:t>Code Implementation Summary</a:t>
            </a:r>
          </a:p>
        </p:txBody>
      </p:sp>
      <p:sp>
        <p:nvSpPr>
          <p:cNvPr id="11" name="TextBox 10"/>
          <p:cNvSpPr txBox="1"/>
          <p:nvPr/>
        </p:nvSpPr>
        <p:spPr>
          <a:xfrm>
            <a:off x="6492240" y="2194560"/>
            <a:ext cx="4754880" cy="3840480"/>
          </a:xfrm>
          <a:prstGeom prst="rect">
            <a:avLst/>
          </a:prstGeom>
          <a:noFill/>
        </p:spPr>
        <p:txBody>
          <a:bodyPr wrap="square">
            <a:spAutoFit/>
          </a:bodyPr>
          <a:lstStyle/>
          <a:p>
            <a:pPr>
              <a:spcAft>
                <a:spcPts val="1000"/>
              </a:spcAft>
              <a:defRPr sz="1300">
                <a:solidFill>
                  <a:srgbClr val="E8F1F8"/>
                </a:solidFill>
              </a:defRPr>
            </a:pPr>
            <a:r>
              <a:t>•  Backend API: DELETE /api/applications/{id}?stop_first=true in backend/hangar/api/applications.py.</a:t>
            </a:r>
          </a:p>
          <a:p>
            <a:pPr>
              <a:spcAft>
                <a:spcPts val="1000"/>
              </a:spcAft>
              <a:defRPr sz="1300">
                <a:solidFill>
                  <a:srgbClr val="E8F1F8"/>
                </a:solidFill>
              </a:defRPr>
            </a:pPr>
            <a:r>
              <a:t>•  Supervisor Cleanup: Added supervisor.remove_tracked(comp_id) to remove in-memory tracked components.</a:t>
            </a:r>
          </a:p>
          <a:p>
            <a:pPr>
              <a:spcAft>
                <a:spcPts val="1000"/>
              </a:spcAft>
              <a:defRPr sz="1300">
                <a:solidFill>
                  <a:srgbClr val="E8F1F8"/>
                </a:solidFill>
              </a:defRPr>
            </a:pPr>
            <a:r>
              <a:t>•  Log Purging: Calls shutil.rmtree(LOGS_DIR / comp_id) to free disk space.</a:t>
            </a:r>
          </a:p>
          <a:p>
            <a:pPr>
              <a:spcAft>
                <a:spcPts val="1000"/>
              </a:spcAft>
              <a:defRPr sz="1300">
                <a:solidFill>
                  <a:srgbClr val="E8F1F8"/>
                </a:solidFill>
              </a:defRPr>
            </a:pPr>
            <a:r>
              <a:t>•  Frontend API: Updated deleteApplication(id, stopFirst) in frontend/src/lib/api.ts.</a:t>
            </a:r>
          </a:p>
          <a:p>
            <a:pPr>
              <a:spcAft>
                <a:spcPts val="1000"/>
              </a:spcAft>
              <a:defRPr sz="1300">
                <a:solidFill>
                  <a:srgbClr val="E8F1F8"/>
                </a:solidFill>
              </a:defRPr>
            </a:pPr>
            <a:r>
              <a:t>•  Frontend UI: Integrated Radix confirmation Dialog and feedback toasts in HangarDashboard.tsx.</a:t>
            </a:r>
          </a:p>
          <a:p>
            <a:pPr>
              <a:spcAft>
                <a:spcPts val="1000"/>
              </a:spcAft>
              <a:defRPr sz="1300">
                <a:solidFill>
                  <a:srgbClr val="E8F1F8"/>
                </a:solidFill>
              </a:defRPr>
            </a:pPr>
            <a:r>
              <a:t>•  Full Test Coverage: Automated tests verify deleting stopped apps, deleting with stop_first=false, and 404 for missing IDs.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16: TROUBLESHOOTING</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Common Problems &amp; How Hangar Fixes Them</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804672"/>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10332720" cy="658368"/>
          </a:xfrm>
          <a:prstGeom prst="rect">
            <a:avLst/>
          </a:prstGeom>
          <a:noFill/>
        </p:spPr>
        <p:txBody>
          <a:bodyPr wrap="square">
            <a:spAutoFit/>
          </a:bodyPr>
          <a:lstStyle/>
          <a:p>
            <a:pPr>
              <a:defRPr b="1" sz="1300">
                <a:solidFill>
                  <a:srgbClr val="F4B94E"/>
                </a:solidFill>
              </a:defRPr>
            </a:pPr>
            <a:r>
              <a:t>Problem 1: Port Already in Use:  </a:t>
            </a:r>
            <a:r>
              <a:rPr b="0" sz="1200">
                <a:solidFill>
                  <a:srgbClr val="E8F1F8"/>
                </a:solidFill>
              </a:rPr>
              <a:t>Hangar detects the conflict before starting, finds the owning PID and process name using psutil, and displays a 'Kill it and start' button in the UI.</a:t>
            </a:r>
          </a:p>
        </p:txBody>
      </p:sp>
      <p:sp>
        <p:nvSpPr>
          <p:cNvPr id="8" name="Rounded Rectangle 7"/>
          <p:cNvSpPr/>
          <p:nvPr/>
        </p:nvSpPr>
        <p:spPr>
          <a:xfrm>
            <a:off x="731520" y="2560320"/>
            <a:ext cx="10728655" cy="804672"/>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33472"/>
            <a:ext cx="10332720" cy="658368"/>
          </a:xfrm>
          <a:prstGeom prst="rect">
            <a:avLst/>
          </a:prstGeom>
          <a:noFill/>
        </p:spPr>
        <p:txBody>
          <a:bodyPr wrap="square">
            <a:spAutoFit/>
          </a:bodyPr>
          <a:lstStyle/>
          <a:p>
            <a:pPr>
              <a:defRPr b="1" sz="1300">
                <a:solidFill>
                  <a:srgbClr val="F4B94E"/>
                </a:solidFill>
              </a:defRPr>
            </a:pPr>
            <a:r>
              <a:t>Problem 2: Zombie / Orphan Child Processes:  </a:t>
            </a:r>
            <a:r>
              <a:rPr b="0" sz="1200">
                <a:solidFill>
                  <a:srgbClr val="E8F1F8"/>
                </a:solidFill>
              </a:rPr>
              <a:t>Hangar spawns processes in distinct process groups. On stop, it terminates the entire tree, falling back to 'taskkill /T /F' on Windows to kill stuck processes.</a:t>
            </a:r>
          </a:p>
        </p:txBody>
      </p:sp>
      <p:sp>
        <p:nvSpPr>
          <p:cNvPr id="10" name="Rounded Rectangle 9"/>
          <p:cNvSpPr/>
          <p:nvPr/>
        </p:nvSpPr>
        <p:spPr>
          <a:xfrm>
            <a:off x="731520" y="3474720"/>
            <a:ext cx="10728655" cy="804672"/>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47872"/>
            <a:ext cx="10332720" cy="658368"/>
          </a:xfrm>
          <a:prstGeom prst="rect">
            <a:avLst/>
          </a:prstGeom>
          <a:noFill/>
        </p:spPr>
        <p:txBody>
          <a:bodyPr wrap="square">
            <a:spAutoFit/>
          </a:bodyPr>
          <a:lstStyle/>
          <a:p>
            <a:pPr>
              <a:defRPr b="1" sz="1300">
                <a:solidFill>
                  <a:srgbClr val="F4B94E"/>
                </a:solidFill>
              </a:defRPr>
            </a:pPr>
            <a:r>
              <a:t>Problem 3: Crash Loops &amp; Flapping Services:  </a:t>
            </a:r>
            <a:r>
              <a:rPr b="0" sz="1200">
                <a:solidFill>
                  <a:srgbClr val="E8F1F8"/>
                </a:solidFill>
              </a:rPr>
              <a:t>If a service crashes repeatedly, autorestart uses exponential backoff (1s, 2s, 4s, 8s, 16s). After 5 attempts, it stops and fires a 'restart_loop' event.</a:t>
            </a:r>
          </a:p>
        </p:txBody>
      </p:sp>
      <p:sp>
        <p:nvSpPr>
          <p:cNvPr id="12" name="Rounded Rectangle 11"/>
          <p:cNvSpPr/>
          <p:nvPr/>
        </p:nvSpPr>
        <p:spPr>
          <a:xfrm>
            <a:off x="731520" y="4389120"/>
            <a:ext cx="10728655" cy="804672"/>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462272"/>
            <a:ext cx="10332720" cy="658368"/>
          </a:xfrm>
          <a:prstGeom prst="rect">
            <a:avLst/>
          </a:prstGeom>
          <a:noFill/>
        </p:spPr>
        <p:txBody>
          <a:bodyPr wrap="square">
            <a:spAutoFit/>
          </a:bodyPr>
          <a:lstStyle/>
          <a:p>
            <a:pPr>
              <a:defRPr b="1" sz="1300">
                <a:solidFill>
                  <a:srgbClr val="F4B94E"/>
                </a:solidFill>
              </a:defRPr>
            </a:pPr>
            <a:r>
              <a:t>Problem 4: Backend Unreachable / Reconnecting:  </a:t>
            </a:r>
            <a:r>
              <a:rPr b="0" sz="1200">
                <a:solidFill>
                  <a:srgbClr val="E8F1F8"/>
                </a:solidFill>
              </a:rPr>
              <a:t>The frontend detects WebSocket drops, shows an amber pulsing dot in the dock, attempts auto-reconnection, and falls back to REST polling.</a:t>
            </a:r>
          </a:p>
        </p:txBody>
      </p:sp>
      <p:sp>
        <p:nvSpPr>
          <p:cNvPr id="14" name="Rounded Rectangle 13"/>
          <p:cNvSpPr/>
          <p:nvPr/>
        </p:nvSpPr>
        <p:spPr>
          <a:xfrm>
            <a:off x="731520" y="5303520"/>
            <a:ext cx="10728655" cy="804672"/>
          </a:xfrm>
          <a:prstGeom prst="roundRect">
            <a:avLst/>
          </a:prstGeom>
          <a:solidFill>
            <a:srgbClr val="0F2D49"/>
          </a:solidFill>
          <a:ln w="19050">
            <a:solidFill>
              <a:srgbClr val="F4B9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376672"/>
            <a:ext cx="10332720" cy="658368"/>
          </a:xfrm>
          <a:prstGeom prst="rect">
            <a:avLst/>
          </a:prstGeom>
          <a:noFill/>
        </p:spPr>
        <p:txBody>
          <a:bodyPr wrap="square">
            <a:spAutoFit/>
          </a:bodyPr>
          <a:lstStyle/>
          <a:p>
            <a:pPr>
              <a:defRPr b="1" sz="1300">
                <a:solidFill>
                  <a:srgbClr val="F4B94E"/>
                </a:solidFill>
              </a:defRPr>
            </a:pPr>
            <a:r>
              <a:t>Problem 5: Runaway CPU or Memory Leaks:  </a:t>
            </a:r>
            <a:r>
              <a:rPr b="0" sz="1200">
                <a:solidFill>
                  <a:srgbClr val="E8F1F8"/>
                </a:solidFill>
              </a:rPr>
              <a:t>The metrics engine alerts you with a warning toast whenever a process tree exceeds 90% CPU or 80% RAM for over two sampling intervals.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100" b="1">
                <a:solidFill>
                  <a:srgbClr val="8DAFC8"/>
                </a:solidFill>
              </a:defRPr>
            </a:pPr>
            <a:r>
              <a:t>SECTION 17: TERMINOLOGY</a:t>
            </a:r>
          </a:p>
        </p:txBody>
      </p:sp>
      <p:sp>
        <p:nvSpPr>
          <p:cNvPr id="4" name="TextBox 3"/>
          <p:cNvSpPr txBox="1"/>
          <p:nvPr/>
        </p:nvSpPr>
        <p:spPr>
          <a:xfrm>
            <a:off x="731520" y="685800"/>
            <a:ext cx="10698480" cy="731520"/>
          </a:xfrm>
          <a:prstGeom prst="rect">
            <a:avLst/>
          </a:prstGeom>
          <a:noFill/>
        </p:spPr>
        <p:txBody>
          <a:bodyPr wrap="square">
            <a:spAutoFit/>
          </a:bodyPr>
          <a:lstStyle/>
          <a:p>
            <a:pPr>
              <a:defRPr sz="2400" b="1">
                <a:solidFill>
                  <a:srgbClr val="E8F1F8"/>
                </a:solidFill>
              </a:defRPr>
            </a:pPr>
            <a:r>
              <a:t>Glossary: Plain-English Technical Terms</a:t>
            </a:r>
          </a:p>
        </p:txBody>
      </p:sp>
      <p:sp>
        <p:nvSpPr>
          <p:cNvPr id="5" name="Rectangle 4"/>
          <p:cNvSpPr/>
          <p:nvPr/>
        </p:nvSpPr>
        <p:spPr>
          <a:xfrm>
            <a:off x="731520" y="1463040"/>
            <a:ext cx="10728655" cy="18288"/>
          </a:xfrm>
          <a:prstGeom prst="rect">
            <a:avLst/>
          </a:prstGeom>
          <a:solidFill>
            <a:srgbClr val="2753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5120640" cy="685800"/>
          </a:xfrm>
          <a:prstGeom prst="rect">
            <a:avLst/>
          </a:prstGeom>
          <a:noFill/>
        </p:spPr>
        <p:txBody>
          <a:bodyPr wrap="square">
            <a:spAutoFit/>
          </a:bodyPr>
          <a:lstStyle/>
          <a:p>
            <a:pPr>
              <a:defRPr b="1" sz="1200">
                <a:solidFill>
                  <a:srgbClr val="63B8FF"/>
                </a:solidFill>
              </a:defRPr>
            </a:pPr>
            <a:r>
              <a:t>Localhost: </a:t>
            </a:r>
            <a:r>
              <a:rPr b="0" sz="1100">
                <a:solidFill>
                  <a:srgbClr val="E8F1F8"/>
                </a:solidFill>
              </a:rPr>
              <a:t>Your own computer. IP address 127.0.0.1. Network traffic stays entirely inside your machine.</a:t>
            </a:r>
          </a:p>
        </p:txBody>
      </p:sp>
      <p:sp>
        <p:nvSpPr>
          <p:cNvPr id="7" name="TextBox 6"/>
          <p:cNvSpPr txBox="1"/>
          <p:nvPr/>
        </p:nvSpPr>
        <p:spPr>
          <a:xfrm>
            <a:off x="6126480" y="1645920"/>
            <a:ext cx="5120640" cy="685800"/>
          </a:xfrm>
          <a:prstGeom prst="rect">
            <a:avLst/>
          </a:prstGeom>
          <a:noFill/>
        </p:spPr>
        <p:txBody>
          <a:bodyPr wrap="square">
            <a:spAutoFit/>
          </a:bodyPr>
          <a:lstStyle/>
          <a:p>
            <a:pPr>
              <a:defRPr b="1" sz="1200">
                <a:solidFill>
                  <a:srgbClr val="63B8FF"/>
                </a:solidFill>
              </a:defRPr>
            </a:pPr>
            <a:r>
              <a:t>Port: </a:t>
            </a:r>
            <a:r>
              <a:rPr b="0" sz="1100">
                <a:solidFill>
                  <a:srgbClr val="E8F1F8"/>
                </a:solidFill>
              </a:rPr>
              <a:t>A numbered software doorway on your computer (e.g. 7777) allowing programs to receive connections.</a:t>
            </a:r>
          </a:p>
        </p:txBody>
      </p:sp>
      <p:sp>
        <p:nvSpPr>
          <p:cNvPr id="8" name="TextBox 7"/>
          <p:cNvSpPr txBox="1"/>
          <p:nvPr/>
        </p:nvSpPr>
        <p:spPr>
          <a:xfrm>
            <a:off x="731520" y="2423160"/>
            <a:ext cx="5120640" cy="685800"/>
          </a:xfrm>
          <a:prstGeom prst="rect">
            <a:avLst/>
          </a:prstGeom>
          <a:noFill/>
        </p:spPr>
        <p:txBody>
          <a:bodyPr wrap="square">
            <a:spAutoFit/>
          </a:bodyPr>
          <a:lstStyle/>
          <a:p>
            <a:pPr>
              <a:defRPr b="1" sz="1200">
                <a:solidFill>
                  <a:srgbClr val="63B8FF"/>
                </a:solidFill>
              </a:defRPr>
            </a:pPr>
            <a:r>
              <a:t>Process: </a:t>
            </a:r>
            <a:r>
              <a:rPr b="0" sz="1100">
                <a:solidFill>
                  <a:srgbClr val="E8F1F8"/>
                </a:solidFill>
              </a:rPr>
              <a:t>An active program running in operating system memory (e.g. python.exe or node.exe).</a:t>
            </a:r>
          </a:p>
        </p:txBody>
      </p:sp>
      <p:sp>
        <p:nvSpPr>
          <p:cNvPr id="9" name="TextBox 8"/>
          <p:cNvSpPr txBox="1"/>
          <p:nvPr/>
        </p:nvSpPr>
        <p:spPr>
          <a:xfrm>
            <a:off x="6126480" y="2423160"/>
            <a:ext cx="5120640" cy="685800"/>
          </a:xfrm>
          <a:prstGeom prst="rect">
            <a:avLst/>
          </a:prstGeom>
          <a:noFill/>
        </p:spPr>
        <p:txBody>
          <a:bodyPr wrap="square">
            <a:spAutoFit/>
          </a:bodyPr>
          <a:lstStyle/>
          <a:p>
            <a:pPr>
              <a:defRPr b="1" sz="1200">
                <a:solidFill>
                  <a:srgbClr val="63B8FF"/>
                </a:solidFill>
              </a:defRPr>
            </a:pPr>
            <a:r>
              <a:t>PID (Process ID): </a:t>
            </a:r>
            <a:r>
              <a:rPr b="0" sz="1100">
                <a:solidFill>
                  <a:srgbClr val="E8F1F8"/>
                </a:solidFill>
              </a:rPr>
              <a:t>A unique number assigned by Windows or Linux to identify a specific running program.</a:t>
            </a:r>
          </a:p>
        </p:txBody>
      </p:sp>
      <p:sp>
        <p:nvSpPr>
          <p:cNvPr id="10" name="TextBox 9"/>
          <p:cNvSpPr txBox="1"/>
          <p:nvPr/>
        </p:nvSpPr>
        <p:spPr>
          <a:xfrm>
            <a:off x="731520" y="3200400"/>
            <a:ext cx="5120640" cy="685800"/>
          </a:xfrm>
          <a:prstGeom prst="rect">
            <a:avLst/>
          </a:prstGeom>
          <a:noFill/>
        </p:spPr>
        <p:txBody>
          <a:bodyPr wrap="square">
            <a:spAutoFit/>
          </a:bodyPr>
          <a:lstStyle/>
          <a:p>
            <a:pPr>
              <a:defRPr b="1" sz="1200">
                <a:solidFill>
                  <a:srgbClr val="63B8FF"/>
                </a:solidFill>
              </a:defRPr>
            </a:pPr>
            <a:r>
              <a:t>Process Tree: </a:t>
            </a:r>
            <a:r>
              <a:rPr b="0" sz="1100">
                <a:solidFill>
                  <a:srgbClr val="E8F1F8"/>
                </a:solidFill>
              </a:rPr>
              <a:t>A parent program and all the child programs it spawned (e.g. npm running a Vite dev server).</a:t>
            </a:r>
          </a:p>
        </p:txBody>
      </p:sp>
      <p:sp>
        <p:nvSpPr>
          <p:cNvPr id="11" name="TextBox 10"/>
          <p:cNvSpPr txBox="1"/>
          <p:nvPr/>
        </p:nvSpPr>
        <p:spPr>
          <a:xfrm>
            <a:off x="6126480" y="3200400"/>
            <a:ext cx="5120640" cy="685800"/>
          </a:xfrm>
          <a:prstGeom prst="rect">
            <a:avLst/>
          </a:prstGeom>
          <a:noFill/>
        </p:spPr>
        <p:txBody>
          <a:bodyPr wrap="square">
            <a:spAutoFit/>
          </a:bodyPr>
          <a:lstStyle/>
          <a:p>
            <a:pPr>
              <a:defRPr b="1" sz="1200">
                <a:solidFill>
                  <a:srgbClr val="63B8FF"/>
                </a:solidFill>
              </a:defRPr>
            </a:pPr>
            <a:r>
              <a:t>Subprocess: </a:t>
            </a:r>
            <a:r>
              <a:rPr b="0" sz="1100">
                <a:solidFill>
                  <a:srgbClr val="E8F1F8"/>
                </a:solidFill>
              </a:rPr>
              <a:t>A program started by another program (e.g. Hangar starting your backend API).</a:t>
            </a:r>
          </a:p>
        </p:txBody>
      </p:sp>
      <p:sp>
        <p:nvSpPr>
          <p:cNvPr id="12" name="TextBox 11"/>
          <p:cNvSpPr txBox="1"/>
          <p:nvPr/>
        </p:nvSpPr>
        <p:spPr>
          <a:xfrm>
            <a:off x="731520" y="3977639"/>
            <a:ext cx="5120640" cy="685800"/>
          </a:xfrm>
          <a:prstGeom prst="rect">
            <a:avLst/>
          </a:prstGeom>
          <a:noFill/>
        </p:spPr>
        <p:txBody>
          <a:bodyPr wrap="square">
            <a:spAutoFit/>
          </a:bodyPr>
          <a:lstStyle/>
          <a:p>
            <a:pPr>
              <a:defRPr b="1" sz="1200">
                <a:solidFill>
                  <a:srgbClr val="63B8FF"/>
                </a:solidFill>
              </a:defRPr>
            </a:pPr>
            <a:r>
              <a:t>Frontend: </a:t>
            </a:r>
            <a:r>
              <a:rPr b="0" sz="1100">
                <a:solidFill>
                  <a:srgbClr val="E8F1F8"/>
                </a:solidFill>
              </a:rPr>
              <a:t>The visible user interface screen with buttons and charts that you see in the browser.</a:t>
            </a:r>
          </a:p>
        </p:txBody>
      </p:sp>
      <p:sp>
        <p:nvSpPr>
          <p:cNvPr id="13" name="TextBox 12"/>
          <p:cNvSpPr txBox="1"/>
          <p:nvPr/>
        </p:nvSpPr>
        <p:spPr>
          <a:xfrm>
            <a:off x="6126480" y="3977639"/>
            <a:ext cx="5120640" cy="685800"/>
          </a:xfrm>
          <a:prstGeom prst="rect">
            <a:avLst/>
          </a:prstGeom>
          <a:noFill/>
        </p:spPr>
        <p:txBody>
          <a:bodyPr wrap="square">
            <a:spAutoFit/>
          </a:bodyPr>
          <a:lstStyle/>
          <a:p>
            <a:pPr>
              <a:defRPr b="1" sz="1200">
                <a:solidFill>
                  <a:srgbClr val="63B8FF"/>
                </a:solidFill>
              </a:defRPr>
            </a:pPr>
            <a:r>
              <a:t>Backend: </a:t>
            </a:r>
            <a:r>
              <a:rPr b="0" sz="1100">
                <a:solidFill>
                  <a:srgbClr val="E8F1F8"/>
                </a:solidFill>
              </a:rPr>
              <a:t>The background program that manages data, executes commands, and supervises processes.</a:t>
            </a:r>
          </a:p>
        </p:txBody>
      </p:sp>
      <p:sp>
        <p:nvSpPr>
          <p:cNvPr id="14" name="TextBox 13"/>
          <p:cNvSpPr txBox="1"/>
          <p:nvPr/>
        </p:nvSpPr>
        <p:spPr>
          <a:xfrm>
            <a:off x="731520" y="4754880"/>
            <a:ext cx="5120640" cy="685800"/>
          </a:xfrm>
          <a:prstGeom prst="rect">
            <a:avLst/>
          </a:prstGeom>
          <a:noFill/>
        </p:spPr>
        <p:txBody>
          <a:bodyPr wrap="square">
            <a:spAutoFit/>
          </a:bodyPr>
          <a:lstStyle/>
          <a:p>
            <a:pPr>
              <a:defRPr b="1" sz="1200">
                <a:solidFill>
                  <a:srgbClr val="63B8FF"/>
                </a:solidFill>
              </a:defRPr>
            </a:pPr>
            <a:r>
              <a:t>Database: </a:t>
            </a:r>
            <a:r>
              <a:rPr b="0" sz="1100">
                <a:solidFill>
                  <a:srgbClr val="E8F1F8"/>
                </a:solidFill>
              </a:rPr>
              <a:t>A filing cabinet file (SQLite) that stores your projects, history, and settings permanently.</a:t>
            </a:r>
          </a:p>
        </p:txBody>
      </p:sp>
      <p:sp>
        <p:nvSpPr>
          <p:cNvPr id="15" name="TextBox 14"/>
          <p:cNvSpPr txBox="1"/>
          <p:nvPr/>
        </p:nvSpPr>
        <p:spPr>
          <a:xfrm>
            <a:off x="6126480" y="4754880"/>
            <a:ext cx="5120640" cy="685800"/>
          </a:xfrm>
          <a:prstGeom prst="rect">
            <a:avLst/>
          </a:prstGeom>
          <a:noFill/>
        </p:spPr>
        <p:txBody>
          <a:bodyPr wrap="square">
            <a:spAutoFit/>
          </a:bodyPr>
          <a:lstStyle/>
          <a:p>
            <a:pPr>
              <a:defRPr b="1" sz="1200">
                <a:solidFill>
                  <a:srgbClr val="63B8FF"/>
                </a:solidFill>
              </a:defRPr>
            </a:pPr>
            <a:r>
              <a:t>API / Endpoint: </a:t>
            </a:r>
            <a:r>
              <a:rPr b="0" sz="1100">
                <a:solidFill>
                  <a:srgbClr val="E8F1F8"/>
                </a:solidFill>
              </a:rPr>
              <a:t>A specific web address (like /api/overview) where programs ask for data or trigger actions.</a:t>
            </a:r>
          </a:p>
        </p:txBody>
      </p:sp>
      <p:sp>
        <p:nvSpPr>
          <p:cNvPr id="16" name="TextBox 15"/>
          <p:cNvSpPr txBox="1"/>
          <p:nvPr/>
        </p:nvSpPr>
        <p:spPr>
          <a:xfrm>
            <a:off x="731520" y="5532120"/>
            <a:ext cx="5120640" cy="685800"/>
          </a:xfrm>
          <a:prstGeom prst="rect">
            <a:avLst/>
          </a:prstGeom>
          <a:noFill/>
        </p:spPr>
        <p:txBody>
          <a:bodyPr wrap="square">
            <a:spAutoFit/>
          </a:bodyPr>
          <a:lstStyle/>
          <a:p>
            <a:pPr>
              <a:defRPr b="1" sz="1200">
                <a:solidFill>
                  <a:srgbClr val="63B8FF"/>
                </a:solidFill>
              </a:defRPr>
            </a:pPr>
            <a:r>
              <a:t>WebSocket: </a:t>
            </a:r>
            <a:r>
              <a:rPr b="0" sz="1100">
                <a:solidFill>
                  <a:srgbClr val="E8F1F8"/>
                </a:solidFill>
              </a:rPr>
              <a:t>A continuous two-way live connection that allows the server to push updates instantly.</a:t>
            </a:r>
          </a:p>
        </p:txBody>
      </p:sp>
      <p:sp>
        <p:nvSpPr>
          <p:cNvPr id="17" name="TextBox 16"/>
          <p:cNvSpPr txBox="1"/>
          <p:nvPr/>
        </p:nvSpPr>
        <p:spPr>
          <a:xfrm>
            <a:off x="6126480" y="5532120"/>
            <a:ext cx="5120640" cy="685800"/>
          </a:xfrm>
          <a:prstGeom prst="rect">
            <a:avLst/>
          </a:prstGeom>
          <a:noFill/>
        </p:spPr>
        <p:txBody>
          <a:bodyPr wrap="square">
            <a:spAutoFit/>
          </a:bodyPr>
          <a:lstStyle/>
          <a:p>
            <a:pPr>
              <a:defRPr b="1" sz="1200">
                <a:solidFill>
                  <a:srgbClr val="63B8FF"/>
                </a:solidFill>
              </a:defRPr>
            </a:pPr>
            <a:r>
              <a:t>Polling: </a:t>
            </a:r>
            <a:r>
              <a:rPr b="0" sz="1100">
                <a:solidFill>
                  <a:srgbClr val="E8F1F8"/>
                </a:solidFill>
              </a:rPr>
              <a:t>Checking repeatedly on a timer (e.g. every 5 seconds) to see if data has changed.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